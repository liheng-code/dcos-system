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56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SYSTEM 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Multi-Project AI-Assured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Daily Reporting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097280" cy="36576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 ·  Setup  ·  Roles  ·  Process  ·  Controls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is system of record   ·   Telegram is field interface   ·   AI assures   ·   PM decides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Content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8686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Principle &amp; Hierarchy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234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234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System Architecture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6002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1600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Ownership 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19659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1965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vs DCOS System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3317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331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Integration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6974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6974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Group Naming Convention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0632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Group &amp; Assign Bot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4290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429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Subcontractor User Creation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7947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794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Permissions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160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160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App R03 — Report Form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868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8686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Flow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1234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1234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Ruleset Catalogue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16002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1600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Specialist Agents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54880" y="19659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1965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Scoring Flow &amp; Thresholds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54880" y="23317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0" y="2331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Decision Logic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54880" y="26974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2697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Review UI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54880" y="30632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03520" y="3063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Lifecycle &amp; Correction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754880" y="34290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3429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 &amp; Management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54880" y="37947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03520" y="37947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Chain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Principle &amp; Hierarchy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0F1C2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Projects → Many Subcontractors → One Telegram Group per SC per Project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DCOS Database → AI Assurance → PM Approval → Verified Data → Management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28800"/>
            <a:ext cx="2011680" cy="54864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MULTI-PROJECT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control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182880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06040" y="1828800"/>
            <a:ext cx="201168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WBS · Schedule · PM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82880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828800"/>
            <a:ext cx="20116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SUBCONTRACTOR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· Scope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82880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828800"/>
            <a:ext cx="201168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GROUP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Project + 1 SC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33375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MAPPING RULE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6118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Project + One Subcontractor = One Telegram Project Group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39776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→ Project → Subcontractor → Discipline / Scope → Assigned WBS   ·   Mapping lives in DCOS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System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80360" y="822960"/>
            <a:ext cx="3383280" cy="347472"/>
          </a:xfrm>
          <a:prstGeom prst="roundRect">
            <a:avLst>
              <a:gd name="adj" fmla="val 10526"/>
            </a:avLst>
          </a:prstGeom>
          <a:solidFill>
            <a:srgbClr val="0F1C2E"/>
          </a:solidFill>
          <a:ln/>
        </p:spPr>
      </p:sp>
      <p:sp>
        <p:nvSpPr>
          <p:cNvPr id="9" name="Text 7"/>
          <p:cNvSpPr/>
          <p:nvPr/>
        </p:nvSpPr>
        <p:spPr>
          <a:xfrm>
            <a:off x="2880360" y="868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MULTI-PROJECT  PORTFOLIO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0116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SC-A1  Group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371600"/>
            <a:ext cx="20116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SC-A2  Group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20116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SC-B1  Group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20116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SC-C1  Group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51560" y="2011680"/>
            <a:ext cx="2194560" cy="365760"/>
          </a:xfrm>
          <a:prstGeom prst="roundRect">
            <a:avLst>
              <a:gd name="adj" fmla="val 10000"/>
            </a:avLst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2075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+ Mini App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28280" y="2057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954A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20440" y="2011680"/>
            <a:ext cx="2194560" cy="365760"/>
          </a:xfrm>
          <a:prstGeom prst="roundRect">
            <a:avLst>
              <a:gd name="adj" fmla="val 10000"/>
            </a:avLst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2075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97160" y="2057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954A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89320" y="2011680"/>
            <a:ext cx="2194560" cy="365760"/>
          </a:xfrm>
          <a:prstGeom prst="roundRect">
            <a:avLst>
              <a:gd name="adj" fmla="val 10000"/>
            </a:avLst>
          </a:prstGeom>
          <a:solidFill>
            <a:srgbClr val="0F1C2E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2075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Database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606040"/>
            <a:ext cx="40233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2697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2944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validation — fields, ranges, WBS,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deadlines, duplicates → structured ERROR / WARN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606040"/>
            <a:ext cx="40233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2697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ASSURANCE LAYER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2944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+ specialist agents — findings,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scoring, consolidation → PM package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703320"/>
            <a:ext cx="2743200" cy="640080"/>
          </a:xfrm>
          <a:prstGeom prst="roundRect">
            <a:avLst>
              <a:gd name="adj" fmla="val 7143"/>
            </a:avLst>
          </a:prstGeom>
          <a:solidFill>
            <a:srgbClr val="0F1C2E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794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REVIEW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4023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or Return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37560" y="3703320"/>
            <a:ext cx="2743200" cy="640080"/>
          </a:xfrm>
          <a:prstGeom prst="roundRect">
            <a:avLst>
              <a:gd name="adj" fmla="val 7143"/>
            </a:avLst>
          </a:prstGeom>
          <a:solidFill>
            <a:srgbClr val="0F1C2E"/>
          </a:solidFill>
          <a:ln/>
        </p:spPr>
      </p:sp>
      <p:sp>
        <p:nvSpPr>
          <p:cNvPr id="36" name="Text 34"/>
          <p:cNvSpPr/>
          <p:nvPr/>
        </p:nvSpPr>
        <p:spPr>
          <a:xfrm>
            <a:off x="3429000" y="3794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29000" y="4023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SC data only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3703320"/>
            <a:ext cx="2743200" cy="640080"/>
          </a:xfrm>
          <a:prstGeom prst="roundRect">
            <a:avLst>
              <a:gd name="adj" fmla="val 7143"/>
            </a:avLst>
          </a:prstGeom>
          <a:solidFill>
            <a:srgbClr val="0F1C2E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3794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09360" y="4023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Multi-project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Ownership Model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868680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868680"/>
            <a:ext cx="54864" cy="621792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9418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Subcontractor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factual field information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581912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581912"/>
            <a:ext cx="54864" cy="621792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6550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Group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19019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+ reporting entry point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295144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295144"/>
            <a:ext cx="54864" cy="621792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682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Bot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6151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context, triggers, notifications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008376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008376"/>
            <a:ext cx="54864" cy="621792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815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App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3284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report entry form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721608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721608"/>
            <a:ext cx="54864" cy="621792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947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API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041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validation, persistence, events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868680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868680"/>
            <a:ext cx="54864" cy="621792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9418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0" y="11887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of record — authoritative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1581912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1581912"/>
            <a:ext cx="54864" cy="621792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16550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0" y="19019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validation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0600" y="2295144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2295144"/>
            <a:ext cx="54864" cy="621792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23682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Assurance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0" y="26151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Check, interpret, score, recommend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00600" y="3008376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3008376"/>
            <a:ext cx="54864" cy="621792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30815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9200" y="33284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 and approval authority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00600" y="3721608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3721608"/>
            <a:ext cx="54864" cy="621792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0" y="37947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29200" y="4041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 approved information only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CHANGE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Way vs DCOS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4069080" cy="384048"/>
          </a:xfrm>
          <a:prstGeom prst="roundRect">
            <a:avLst>
              <a:gd name="adj" fmla="val 9524"/>
            </a:avLst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869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069080" cy="384048"/>
          </a:xfrm>
          <a:prstGeom prst="roundRect">
            <a:avLst>
              <a:gd name="adj" fmla="val 9524"/>
            </a:avLst>
          </a:prstGeom>
          <a:solidFill>
            <a:srgbClr val="0F1C2E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8869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SYSTEM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40690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14447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/ Excel / WhatsApp chat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371600"/>
            <a:ext cx="40690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4447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Mini App form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1810512"/>
            <a:ext cx="40690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18836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system of record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810512"/>
            <a:ext cx="40690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8836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Database is authoritative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249424"/>
            <a:ext cx="40690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23225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verify completeness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249424"/>
            <a:ext cx="40690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23225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AI completeness checks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2688336"/>
            <a:ext cx="40690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27614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claims unchecked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2688336"/>
            <a:ext cx="40690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27614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/ manpower anomaly flags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127248"/>
            <a:ext cx="40690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2004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reads hundreds of messages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3127248"/>
            <a:ext cx="40690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32004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reviews scored assurance pack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566160"/>
            <a:ext cx="40690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36393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Corrections informal / lost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9160" y="3566160"/>
            <a:ext cx="40690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36393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return loop + audit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005072"/>
            <a:ext cx="40690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40782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sees raw noise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4005072"/>
            <a:ext cx="40690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46320" y="40782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PM-approved summaries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Integration Layer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2743200" cy="3566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2743200" cy="438912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Group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group = one project + one SC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site chat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“Submit Daily Report”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and notifications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is never official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868680"/>
            <a:ext cx="2743200" cy="3566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868680"/>
            <a:ext cx="2743200" cy="438912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Bot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group and user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project / SC context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authorization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Mini App (R03)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and correction alerts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868680"/>
            <a:ext cx="2743200" cy="3566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868680"/>
            <a:ext cx="2743200" cy="438912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App (R03)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reporting form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+ custom fields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Manpower, progress, issues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and documents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only via DCOS API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Group Naming Convention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format ensures one group maps cleanly to one Project + one Subcontractor in DCOS.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258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600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| {PROJECT_CODE} | {SC_SHORT_NAME} | {DISCIPLINE}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697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| PRJ-001 | ABC Masonry | Masonry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68453" y="2697480"/>
            <a:ext cx="35354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PRJ-001 · SC ABC · Discipline Masonry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82296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2004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| PRJ-001 | XYZ MEP | MEP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68453" y="3200400"/>
            <a:ext cx="35354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PRJ-001 · SC XYZ · Discipline MEP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7033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| PRJ-002 | SteelCo | Structural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68453" y="3703320"/>
            <a:ext cx="35354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PRJ-002 · SC SteelCo · Discipline Structural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Telegram Group &amp; Assign Bot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914400"/>
            <a:ext cx="411480" cy="411480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601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868680"/>
            <a:ext cx="7589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80160" y="94183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group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11887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Telegram group. Apply the standard naming convention.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11480" cy="411480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6733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1581912"/>
            <a:ext cx="7589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80160" y="165506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DCOS Bot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190195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add the official DCOS Bot as a member of the group.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340864"/>
            <a:ext cx="411480" cy="411480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38658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97280" y="2295144"/>
            <a:ext cx="7589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80160" y="236829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bot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261518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bot an administrator (required for group identity resolution).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054096"/>
            <a:ext cx="411480" cy="411480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09981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97280" y="3008376"/>
            <a:ext cx="7589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280160" y="3081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in DCOS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332841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DCOS admin: map Group ID → Project → Subcontractor → Discipline / WBS.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3767328"/>
            <a:ext cx="411480" cy="411480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8130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97280" y="3721608"/>
            <a:ext cx="7589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280160" y="379476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404164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posts confirmation. Users with access can open Mini App R03.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Subcontractor User Creation Flow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27432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17320" y="1051560"/>
            <a:ext cx="502920" cy="502920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124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company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subcontractor company in DCOS (name, discipline, contacts).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868680"/>
            <a:ext cx="27432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1051560"/>
            <a:ext cx="502920" cy="502920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124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to project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company to project with scope, WBS, and reporting requirements.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868680"/>
            <a:ext cx="27432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78040" y="1051560"/>
            <a:ext cx="502920" cy="502920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1124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users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site users: name, role, Telegram ID / username, contact.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651760"/>
            <a:ext cx="27432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417320" y="2834640"/>
            <a:ext cx="502920" cy="502920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25" name="Text 23"/>
          <p:cNvSpPr/>
          <p:nvPr/>
        </p:nvSpPr>
        <p:spPr>
          <a:xfrm>
            <a:off x="1417320" y="29077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access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project + SC permissions. Only authorized users can submit.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2651760"/>
            <a:ext cx="27432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0" y="2834640"/>
            <a:ext cx="502920" cy="502920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30" name="Text 28"/>
          <p:cNvSpPr/>
          <p:nvPr/>
        </p:nvSpPr>
        <p:spPr>
          <a:xfrm>
            <a:off x="4297680" y="29077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8328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group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8328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join the mapped Telegram Project Group for that SC assignment.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2651760"/>
            <a:ext cx="27432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78040" y="2834640"/>
            <a:ext cx="502920" cy="502920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35" name="Text 33"/>
          <p:cNvSpPr/>
          <p:nvPr/>
        </p:nvSpPr>
        <p:spPr>
          <a:xfrm>
            <a:off x="7178040" y="29077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6364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6364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recognizes authorized users. Mini App R03 becomes available.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Permissions — Site System vs Telegram Bot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886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886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Site System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886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 / Group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234440"/>
            <a:ext cx="8412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3441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 Site User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1344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own reports only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1344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Mini App in own group only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1847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 Supervisor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1847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team reports; submit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group; may receive alerts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0280"/>
            <a:ext cx="8412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350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2350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/ approve all SCs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SC groups (dashboard only)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Admin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2852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groups, users, WBS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bot; register Group ID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246120"/>
            <a:ext cx="8412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355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3355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approved summaries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3355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Telegram field access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858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Bot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0" y="3858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 (service account)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context; launch Mini App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INTERFACE  ·  R03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Mini App — Daily Site Report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/ 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3246120" cy="3794760"/>
          </a:xfrm>
          <a:prstGeom prst="roundRect">
            <a:avLst>
              <a:gd name="adj" fmla="val 5070"/>
            </a:avLst>
          </a:prstGeom>
          <a:solidFill>
            <a:srgbClr val="E8EEF4"/>
          </a:solidFill>
          <a:ln/>
          <a:effectLst>
            <a:outerShdw blurRad="1270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93192" y="850392"/>
            <a:ext cx="3099816" cy="3648456"/>
          </a:xfrm>
          <a:prstGeom prst="roundRect">
            <a:avLst>
              <a:gd name="adj" fmla="val 413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93192" y="850392"/>
            <a:ext cx="3099816" cy="32918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1" name="Shape 9"/>
          <p:cNvSpPr/>
          <p:nvPr/>
        </p:nvSpPr>
        <p:spPr>
          <a:xfrm>
            <a:off x="393192" y="850392"/>
            <a:ext cx="3099816" cy="164592"/>
          </a:xfrm>
          <a:prstGeom prst="roundRect">
            <a:avLst>
              <a:gd name="adj" fmla="val 55556"/>
            </a:avLst>
          </a:prstGeom>
          <a:solidFill>
            <a:srgbClr val="3182CE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9052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  DCOS Bot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57400" y="9052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Report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Daily Site Report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1234440"/>
            <a:ext cx="777240" cy="182880"/>
          </a:xfrm>
          <a:prstGeom prst="roundRect">
            <a:avLst>
              <a:gd name="adj" fmla="val 40000"/>
            </a:avLst>
          </a:prstGeom>
          <a:solidFill>
            <a:srgbClr val="EBF8FF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12435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of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143560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PRJ-001 · Building A · ABC Masonry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1645920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FIELDS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1819656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Date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011680" y="1819656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1938528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195681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Oct 2026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11680" y="1938528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84832" y="195681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 Masonry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2194560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011680" y="2194560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2920" y="2313432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23317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Masonry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11680" y="2313432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84832" y="23317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· L06 · Z03 ▾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2569464"/>
            <a:ext cx="2834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" y="2688336"/>
            <a:ext cx="2880360" cy="219456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27066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Blockwork ▾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2944368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011680" y="2944368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2920" y="3063240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30815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workers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11680" y="3063240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84832" y="30815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3319272"/>
            <a:ext cx="2834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/ Constraint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2920" y="3438144"/>
            <a:ext cx="2880360" cy="219456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" y="3456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issue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3648456"/>
            <a:ext cx="2834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 Plan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2920" y="3767328"/>
            <a:ext cx="2880360" cy="219456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37856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L06 blockwork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920" y="4114800"/>
            <a:ext cx="109728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1422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Draft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737360" y="4114800"/>
            <a:ext cx="1645920" cy="237744"/>
          </a:xfrm>
          <a:prstGeom prst="roundRect">
            <a:avLst>
              <a:gd name="adj" fmla="val 15385"/>
            </a:avLst>
          </a:prstGeom>
          <a:solidFill>
            <a:srgbClr val="3182CE"/>
          </a:solidFill>
          <a:ln/>
        </p:spPr>
      </p:sp>
      <p:sp>
        <p:nvSpPr>
          <p:cNvPr id="49" name="Text 47"/>
          <p:cNvSpPr/>
          <p:nvPr/>
        </p:nvSpPr>
        <p:spPr>
          <a:xfrm>
            <a:off x="1737360" y="41422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Report →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794760" y="8229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R03  ·  Form Structure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794760" y="11887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Fields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886200" y="1444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Report Date, Contractor (auto)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886200" y="16459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Discipline, Location (WBS zone)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886200" y="18470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Activity, Manpower, Progress 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886200" y="204825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Issue / Constraint, Tomorrow Plan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794760" y="22402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Fields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886200" y="24963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Per SC / discipline template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886200" y="269748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e.g. Wall Type, Thickness, Area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886200" y="28986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Extensible without schema change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794760" y="32918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886200" y="35478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Photos &amp; documents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886200" y="37490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Linked to report + activity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886200" y="39502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Timestamped on submit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Flow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/ 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04088" y="868680"/>
            <a:ext cx="438912" cy="438912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93268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645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App R03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08760" y="1051560"/>
            <a:ext cx="320040" cy="27432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13" name="Shape 11"/>
          <p:cNvSpPr/>
          <p:nvPr/>
        </p:nvSpPr>
        <p:spPr>
          <a:xfrm>
            <a:off x="2167128" y="868680"/>
            <a:ext cx="438912" cy="438912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14" name="Text 12"/>
          <p:cNvSpPr/>
          <p:nvPr/>
        </p:nvSpPr>
        <p:spPr>
          <a:xfrm>
            <a:off x="2167128" y="93268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83080" y="1645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051560"/>
            <a:ext cx="320040" cy="27432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18" name="Shape 16"/>
          <p:cNvSpPr/>
          <p:nvPr/>
        </p:nvSpPr>
        <p:spPr>
          <a:xfrm>
            <a:off x="3630168" y="868680"/>
            <a:ext cx="438912" cy="438912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19" name="Text 17"/>
          <p:cNvSpPr/>
          <p:nvPr/>
        </p:nvSpPr>
        <p:spPr>
          <a:xfrm>
            <a:off x="3630168" y="93268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1645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1051560"/>
            <a:ext cx="320040" cy="27432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23" name="Shape 21"/>
          <p:cNvSpPr/>
          <p:nvPr/>
        </p:nvSpPr>
        <p:spPr>
          <a:xfrm>
            <a:off x="5093208" y="868680"/>
            <a:ext cx="438912" cy="438912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24" name="Text 22"/>
          <p:cNvSpPr/>
          <p:nvPr/>
        </p:nvSpPr>
        <p:spPr>
          <a:xfrm>
            <a:off x="5093208" y="93268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1645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97880" y="1051560"/>
            <a:ext cx="320040" cy="27432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556248" y="868680"/>
            <a:ext cx="438912" cy="438912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29" name="Text 27"/>
          <p:cNvSpPr/>
          <p:nvPr/>
        </p:nvSpPr>
        <p:spPr>
          <a:xfrm>
            <a:off x="6556248" y="93268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1645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60920" y="1051560"/>
            <a:ext cx="320040" cy="27432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3" name="Shape 31"/>
          <p:cNvSpPr/>
          <p:nvPr/>
        </p:nvSpPr>
        <p:spPr>
          <a:xfrm>
            <a:off x="8019288" y="868680"/>
            <a:ext cx="438912" cy="438912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34" name="Text 32"/>
          <p:cNvSpPr/>
          <p:nvPr/>
        </p:nvSpPr>
        <p:spPr>
          <a:xfrm>
            <a:off x="8019288" y="93268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35240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35240" y="1645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2057400"/>
            <a:ext cx="83210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0080" y="2194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Subcontractor → Telegram Group → Bot → Mini App (R03) → DCOS API → Raw report stored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25146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Rules Engine returns structured ERROR / WARNING results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28346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AI Orchestrator runs specialist agents → findings + dimension scores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3154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Consolidation builds the PM assurance package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" y="34747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APPROVE → verified data → project summary → management dashboard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" y="37947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 RETURN → structured correction → SC re-submit → full cycle repeats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 — Ruleset Catalogue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/ 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8321040" cy="329184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8778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8778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87782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188720"/>
            <a:ext cx="832104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2252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REQ_FIELD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12252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122529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field missing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15270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PROGRESS_MAX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1527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152704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exceeds 100%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792224"/>
            <a:ext cx="832104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18288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INVALID_WBS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1828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182880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WBS / activity not valid for subcontractor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21305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INVALID_PROJ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21305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213055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/ subcontractor mismatch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2395728"/>
            <a:ext cx="832104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4323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24323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0" y="243230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report for same date and SC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27340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UNIT_MISMATCH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0" y="27340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06240" y="273405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inconsistent with activity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2999232"/>
            <a:ext cx="832104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0358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STATUS_RULE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0" y="3035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06240" y="303580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work status transition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33375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3200" y="33375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06240" y="333756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after reporting deadline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1480" y="3602736"/>
            <a:ext cx="832104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36393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EVIDENCE_REQ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0" y="36393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 / ERR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206240" y="36393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evidence missing (configurable)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39410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MANPOWER_MIN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43200" y="39410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206240" y="394106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below planned threshold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1480" y="4206240"/>
            <a:ext cx="832104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2428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QTY_RANGE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743200" y="42428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 / ERR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206240" y="424281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outside configured range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Specialist Agents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/ 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coordinates agents through structured inputs and outputs — no free-form agent dialogue.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234440"/>
            <a:ext cx="2057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234440"/>
            <a:ext cx="2057400" cy="45720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54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fields, evidence, plans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1234440"/>
            <a:ext cx="2057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234440"/>
            <a:ext cx="2057400" cy="45720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1554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Values, logic, units, references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234440"/>
            <a:ext cx="2057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234440"/>
            <a:ext cx="2057400" cy="45720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554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History, baseline, schedule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95160" y="1234440"/>
            <a:ext cx="2057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95160" y="1234440"/>
            <a:ext cx="2057400" cy="45720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1554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8660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vs reported vs output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2788920"/>
            <a:ext cx="2057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2788920"/>
            <a:ext cx="2057400" cy="45720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108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3520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across SCs and days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06040" y="2788920"/>
            <a:ext cx="2057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06040" y="2788920"/>
            <a:ext cx="2057400" cy="45720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1" name="Text 29"/>
          <p:cNvSpPr/>
          <p:nvPr/>
        </p:nvSpPr>
        <p:spPr>
          <a:xfrm>
            <a:off x="2697480" y="3108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97480" y="3520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Existence, relevance, support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2788920"/>
            <a:ext cx="2057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788920"/>
            <a:ext cx="2057400" cy="45720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108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92040" y="3520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Unusual patterns and risks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95160" y="2788920"/>
            <a:ext cx="2057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95160" y="2788920"/>
            <a:ext cx="2057400" cy="45720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9" name="Text 37"/>
          <p:cNvSpPr/>
          <p:nvPr/>
        </p:nvSpPr>
        <p:spPr>
          <a:xfrm>
            <a:off x="7086600" y="3108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86600" y="3520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for PM decision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Scoring Flow &amp; Thresholds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/ 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41832" y="960120"/>
            <a:ext cx="384048" cy="384048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10" name="Text 8"/>
          <p:cNvSpPr/>
          <p:nvPr/>
        </p:nvSpPr>
        <p:spPr>
          <a:xfrm>
            <a:off x="941832" y="10058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1417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first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errors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first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86868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24912" y="960120"/>
            <a:ext cx="384048" cy="384048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15" name="Text 13"/>
          <p:cNvSpPr/>
          <p:nvPr/>
        </p:nvSpPr>
        <p:spPr>
          <a:xfrm>
            <a:off x="2724912" y="10058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76272" y="1417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agents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76272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checks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86200" y="86868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07992" y="960120"/>
            <a:ext cx="384048" cy="384048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20" name="Text 18"/>
          <p:cNvSpPr/>
          <p:nvPr/>
        </p:nvSpPr>
        <p:spPr>
          <a:xfrm>
            <a:off x="4507992" y="10058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59352" y="1417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dims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59352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scores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86868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91072" y="960120"/>
            <a:ext cx="384048" cy="384048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25" name="Text 23"/>
          <p:cNvSpPr/>
          <p:nvPr/>
        </p:nvSpPr>
        <p:spPr>
          <a:xfrm>
            <a:off x="6291072" y="10058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42432" y="1417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42432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52360" y="86868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74152" y="960120"/>
            <a:ext cx="384048" cy="384048"/>
          </a:xfrm>
          <a:prstGeom prst="ellipse">
            <a:avLst/>
          </a:prstGeom>
          <a:solidFill>
            <a:srgbClr val="0F1C2E"/>
          </a:solidFill>
          <a:ln/>
        </p:spPr>
      </p:sp>
      <p:sp>
        <p:nvSpPr>
          <p:cNvPr id="30" name="Text 28"/>
          <p:cNvSpPr/>
          <p:nvPr/>
        </p:nvSpPr>
        <p:spPr>
          <a:xfrm>
            <a:off x="8074152" y="10058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525512" y="1417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package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25512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2194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dimension thresholds (illustrative)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1480" y="2514600"/>
            <a:ext cx="8321040" cy="292608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2560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0" y="2560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97680" y="2560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≥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52160" y="2560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&lt;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06640" y="2560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&lt;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1480" y="2834640"/>
            <a:ext cx="83210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2880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0" y="2880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297680" y="2880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852160" y="2880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06640" y="2880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31912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/ Consistency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743200" y="31912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297680" y="31912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852160" y="31912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406640" y="31912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11480" y="3456432"/>
            <a:ext cx="83210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3502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plausibility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743200" y="3502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297680" y="3502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852160" y="3502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406640" y="3502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48640" y="3813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quality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743200" y="3813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297680" y="3813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852160" y="3813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406640" y="3813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11480" y="4078224"/>
            <a:ext cx="83210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548640" y="4123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/ Cross-check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743200" y="4123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297680" y="4123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852160" y="4123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406640" y="4123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Decision Logic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/ 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2743200" cy="3520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2743200" cy="7315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ERROR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Rules Engine ERROR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dimension below Fail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BLOCKED / RETURN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auto-prepared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still receives package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868680"/>
            <a:ext cx="2743200" cy="3520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868680"/>
            <a:ext cx="2743200" cy="73152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REQUIRED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hard ERROR present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in Review band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AI WARNING findings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PM_REVIEW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attached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868680"/>
            <a:ext cx="2743200" cy="3520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868680"/>
            <a:ext cx="2743200" cy="73152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APPROVE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dimensions at Pass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critical findings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PM_REVIEW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APPROVE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remains final authority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Review — After AI Assurance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 / 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850392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22960"/>
            <a:ext cx="8503920" cy="438912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914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DR-0048   ·   PRJ-001   ·   ABC Masonry   ·   04 Oct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0" y="932688"/>
            <a:ext cx="1737360" cy="256032"/>
          </a:xfrm>
          <a:prstGeom prst="roundRect">
            <a:avLst>
              <a:gd name="adj" fmla="val 10714"/>
            </a:avLst>
          </a:prstGeom>
          <a:solidFill>
            <a:srgbClr val="B8954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9509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REQUIRED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417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SCORES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94560" y="1755648"/>
            <a:ext cx="1005840" cy="256032"/>
          </a:xfrm>
          <a:prstGeom prst="roundRect">
            <a:avLst>
              <a:gd name="adj" fmla="val 10714"/>
            </a:avLst>
          </a:prstGeom>
          <a:solidFill>
            <a:srgbClr val="276749"/>
          </a:solidFill>
          <a:ln/>
        </p:spPr>
      </p:sp>
      <p:sp>
        <p:nvSpPr>
          <p:cNvPr id="16" name="Text 14"/>
          <p:cNvSpPr/>
          <p:nvPr/>
        </p:nvSpPr>
        <p:spPr>
          <a:xfrm>
            <a:off x="2194560" y="17556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94560" y="2121408"/>
            <a:ext cx="1005840" cy="256032"/>
          </a:xfrm>
          <a:prstGeom prst="roundRect">
            <a:avLst>
              <a:gd name="adj" fmla="val 10714"/>
            </a:avLst>
          </a:prstGeom>
          <a:solidFill>
            <a:srgbClr val="C05621"/>
          </a:solidFill>
          <a:ln/>
        </p:spPr>
      </p:sp>
      <p:sp>
        <p:nvSpPr>
          <p:cNvPr id="19" name="Text 17"/>
          <p:cNvSpPr/>
          <p:nvPr/>
        </p:nvSpPr>
        <p:spPr>
          <a:xfrm>
            <a:off x="2194560" y="21214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94560" y="2487168"/>
            <a:ext cx="1005840" cy="256032"/>
          </a:xfrm>
          <a:prstGeom prst="roundRect">
            <a:avLst>
              <a:gd name="adj" fmla="val 10714"/>
            </a:avLst>
          </a:prstGeom>
          <a:solidFill>
            <a:srgbClr val="C05621"/>
          </a:solidFill>
          <a:ln/>
        </p:spPr>
      </p:sp>
      <p:sp>
        <p:nvSpPr>
          <p:cNvPr id="22" name="Text 20"/>
          <p:cNvSpPr/>
          <p:nvPr/>
        </p:nvSpPr>
        <p:spPr>
          <a:xfrm>
            <a:off x="2194560" y="2487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194560" y="2852928"/>
            <a:ext cx="1005840" cy="256032"/>
          </a:xfrm>
          <a:prstGeom prst="roundRect">
            <a:avLst>
              <a:gd name="adj" fmla="val 10714"/>
            </a:avLst>
          </a:prstGeom>
          <a:solidFill>
            <a:srgbClr val="C53030"/>
          </a:solidFill>
          <a:ln/>
        </p:spPr>
      </p:sp>
      <p:sp>
        <p:nvSpPr>
          <p:cNvPr id="25" name="Text 23"/>
          <p:cNvSpPr/>
          <p:nvPr/>
        </p:nvSpPr>
        <p:spPr>
          <a:xfrm>
            <a:off x="2194560" y="2852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94560" y="3218688"/>
            <a:ext cx="1005840" cy="256032"/>
          </a:xfrm>
          <a:prstGeom prst="roundRect">
            <a:avLst>
              <a:gd name="adj" fmla="val 10714"/>
            </a:avLst>
          </a:prstGeom>
          <a:solidFill>
            <a:srgbClr val="276749"/>
          </a:solidFill>
          <a:ln/>
        </p:spPr>
      </p:sp>
      <p:sp>
        <p:nvSpPr>
          <p:cNvPr id="28" name="Text 26"/>
          <p:cNvSpPr/>
          <p:nvPr/>
        </p:nvSpPr>
        <p:spPr>
          <a:xfrm>
            <a:off x="2194560" y="32186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6616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Progress 3× historical average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6616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Evidence for Area B insufficient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6616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Manpower within planned range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6616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Completeness checks passed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6616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No cross-SC conflict detected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3796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37960" y="1737360"/>
            <a:ext cx="2103120" cy="914400"/>
          </a:xfrm>
          <a:prstGeom prst="roundRect">
            <a:avLst>
              <a:gd name="adj" fmla="val 4000"/>
            </a:avLst>
          </a:prstGeom>
          <a:solidFill>
            <a:srgbClr val="FBF6EB"/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1874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clarification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additional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37960" y="2834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ACTIONS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37960" y="3108960"/>
            <a:ext cx="2103120" cy="310896"/>
          </a:xfrm>
          <a:prstGeom prst="roundRect">
            <a:avLst>
              <a:gd name="adj" fmla="val 8824"/>
            </a:avLst>
          </a:prstGeom>
          <a:solidFill>
            <a:srgbClr val="276749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31363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37960" y="3474720"/>
            <a:ext cx="2103120" cy="310896"/>
          </a:xfrm>
          <a:prstGeom prst="roundRect">
            <a:avLst>
              <a:gd name="adj" fmla="val 8824"/>
            </a:avLst>
          </a:prstGeom>
          <a:solidFill>
            <a:srgbClr val="C53030"/>
          </a:solidFill>
          <a:ln/>
        </p:spPr>
      </p:sp>
      <p:sp>
        <p:nvSpPr>
          <p:cNvPr id="42" name="Text 40"/>
          <p:cNvSpPr/>
          <p:nvPr/>
        </p:nvSpPr>
        <p:spPr>
          <a:xfrm>
            <a:off x="6537960" y="35021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37960" y="3840480"/>
            <a:ext cx="2103120" cy="310896"/>
          </a:xfrm>
          <a:prstGeom prst="roundRect">
            <a:avLst>
              <a:gd name="adj" fmla="val 8824"/>
            </a:avLst>
          </a:prstGeom>
          <a:solidFill>
            <a:srgbClr val="2B6CB0"/>
          </a:solidFill>
          <a:ln/>
        </p:spPr>
      </p:sp>
      <p:sp>
        <p:nvSpPr>
          <p:cNvPr id="44" name="Text 42"/>
          <p:cNvSpPr/>
          <p:nvPr/>
        </p:nvSpPr>
        <p:spPr>
          <a:xfrm>
            <a:off x="6537960" y="38679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INFO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Lifecycle &amp; Correction Loop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 / 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0F1C2E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9326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18316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954A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57400" y="86868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0F1C2E"/>
          </a:solidFill>
          <a:ln/>
        </p:spPr>
      </p:sp>
      <p:sp>
        <p:nvSpPr>
          <p:cNvPr id="12" name="Text 10"/>
          <p:cNvSpPr/>
          <p:nvPr/>
        </p:nvSpPr>
        <p:spPr>
          <a:xfrm>
            <a:off x="2057400" y="9326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5676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954A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94760" y="86868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0F1C2E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9326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3036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954A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32120" y="86868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0F1C2E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9326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REVIEW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0396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954A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69480" y="86868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0F1C2E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9326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REVIEW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1463040"/>
            <a:ext cx="40690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1463040"/>
            <a:ext cx="4069080" cy="73152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16916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PATH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2103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PM approves the report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24871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Data marked verified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28712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Included in project daily summary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2552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Rolled into multi-project view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36393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Full audit trail retained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09160" y="1463040"/>
            <a:ext cx="40690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1463040"/>
            <a:ext cx="4069080" cy="7315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16916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PATH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2103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PM returns for correction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83480" y="24871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AI prepares structured request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83480" y="28712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SC notified via Telegram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83480" y="32552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Correct and re-submit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83480" y="36393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Full AI + PM cycle repeats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 &amp; Management Reporting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 ·  Daily Reporting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 / 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1148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4114800" cy="438912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Daily Summary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SC reports consolidated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manpower and progress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Completed, ongoing, delayed 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Issues, constraints, materials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and next-day plan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risks and open findings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PM-approved data included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868680"/>
            <a:ext cx="406908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868680"/>
            <a:ext cx="4069080" cy="438912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9601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Dashboard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status overview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compliance rates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and progress trends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issues and delays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risks and constraints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Subcontractor performance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Cross-project comparison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5486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CHAIN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Subcontractor  →  Report  →  DCOS  →  AI Assurance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PM Approval  →  Verified Data  →  Management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280160" cy="32004"/>
          </a:xfrm>
          <a:prstGeom prst="rect">
            <a:avLst/>
          </a:prstGeom>
          <a:solidFill>
            <a:srgbClr val="B895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14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interface only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514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DCOS Database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788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of record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514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788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control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and consultation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291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566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human authority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3291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566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Approved-data consumer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confuse communication with formal reporting  ·  AI recommendation with PM approval  ·  submission with verified data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1884</Words>
  <Application>Microsoft Office PowerPoint</Application>
  <PresentationFormat>On-screen Show (16:9)</PresentationFormat>
  <Paragraphs>559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DCOS Multi-Project AI-Assured Telegram Daily Reporting System</dc:title>
  <dc:subject>PptxGenJS Presentation</dc:subject>
  <dc:creator>DCOS Architecture</dc:creator>
  <cp:lastModifiedBy>Pouth Liheng</cp:lastModifiedBy>
  <cp:revision>9</cp:revision>
  <dcterms:created xsi:type="dcterms:W3CDTF">2026-10-05T06:31:34Z</dcterms:created>
  <dcterms:modified xsi:type="dcterms:W3CDTF">2026-10-05T08:16:54Z</dcterms:modified>
</cp:coreProperties>
</file>
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B4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2B46"/>
                </a:solidFill>
                <a:latin typeface="Calibri"/>
              </a:rPr>
              <a:t>Training time (hours)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2E6E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E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2B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81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FB6C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Track A</c:v>
                  </c:pt>
                  <c:pt idx="1">
                    <c:v>Track B</c:v>
                  </c:pt>
                  <c:pt idx="2">
                    <c:v>Track C</c:v>
                  </c:pt>
                  <c:pt idx="3">
                    <c:v>Track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</c:v>
                </c:pt>
                <c:pt idx="1">
                  <c:v>3</c:v>
                </c:pt>
                <c:pt idx="2">
                  <c:v>1.5</c:v>
                </c:pt>
                <c:pt idx="3">
                  <c:v>0.75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Frame Project Setup as the entry gate of the whole platform: nothing exists in DCOS without a project created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business case before any screen is shown. The four numbers are the ones people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Clients usually need Track D only; contractor staff take A, B or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Statuses are never skipped and never dragged — every move runs a rule check and is recorded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screen as: what you see, what you do, what happens next. Do not demo all twelve to clients — screens 01, 04 and 08 are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for a contractor audience. The four items are the same four every time, regardless of project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protections, not restrictions — they are what makes the audit trail defensible in 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slide as a discussion — ask the room which mistake they have already made on paper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Cambodian project context on purpose — trainees recognise the client type, the currency and the timezone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this slide as an A5 card for site offices.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 to the live tenant is granted only after the practical assessment — this is a control, not a formality.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Clients often use these terms loosely — agreeing definitions early prevents disputes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reminding the room that Project Setup feeds WBS Management next — the same discipline carries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937760" cy="4937760"/>
          </a:xfrm>
          <a:prstGeom prst="ellipse">
            <a:avLst/>
          </a:prstGeom>
          <a:solidFill>
            <a:srgbClr val="2E6E8E">
              <a:alpha val="38000"/>
            </a:srgbClr>
          </a:solidFill>
          <a:ln w="12700">
            <a:solidFill>
              <a:srgbClr val="2E6E8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75720" y="5806440"/>
            <a:ext cx="1371600" cy="1371600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CONSTRUCTION OPERATING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Summary for Users &amp; Clients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project is created, awarded, controlled and closed inside one platform — and what each role must 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0F2B46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548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04-02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4754880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0F2B46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47548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Phase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4754880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0F2B46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47548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 is the front door of the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task, drawing, purchase order, inspection and payment in DCOS must belong to a project created here. Get this module right and the rest of the system stays clean; get it wrong and every downstream module inherits the mess.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gate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0416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WBS, task, document or PR can exist without a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743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56616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40416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controlled lifecycle from tender to archive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743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35508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40416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from Letter of Award to a fully active project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2743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914400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items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40416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complete before a project can go live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394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“Replace spreadsheets and chat groups with one controlled registry.”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DCOS-PRJ-TRN-001  |  R1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training tracks — take only what your role needs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49440" cy="1024128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37360"/>
            <a:ext cx="512064" cy="512064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276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Admin &amp; Project Director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93852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projects, approve status changes, assign and change PMs, run the month-end portfolio review.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80760" y="1627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hours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6949440" cy="1024128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907792"/>
            <a:ext cx="512064" cy="512064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907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79806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&amp; QS Engineer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1089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award conversion, maintain contract header, roster, calendar and milestones.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80760" y="27980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22192"/>
            <a:ext cx="6949440" cy="1024128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078224"/>
            <a:ext cx="512064" cy="512064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078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96849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Team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427939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tenders, record bids and results, capture honest win/loss reasons.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80760" y="39684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hours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992624"/>
            <a:ext cx="6949440" cy="1024128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5248656"/>
            <a:ext cx="512064" cy="512064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5248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1389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Staff (view level)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08760" y="54498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projects, read the status chip, know what on-hold and closed mean for daily work.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80760" y="5138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7772400" y="1737360"/>
          <a:ext cx="3840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772400" y="5029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with Exercise 0: open project P014 and read its status, phase, PM and contract value.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DCOS-PRJ-TRN-001  |  R1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project, one controlled lifecycle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PRE-CONTRACT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286000" cy="658368"/>
          </a:xfrm>
          <a:prstGeom prst="roundRect">
            <a:avLst>
              <a:gd name="adj" fmla="val 13889"/>
            </a:avLst>
          </a:prstGeom>
          <a:solidFill>
            <a:srgbClr val="F4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8745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1874520"/>
            <a:ext cx="2286000" cy="658368"/>
          </a:xfrm>
          <a:prstGeom prst="roundRect">
            <a:avLst>
              <a:gd name="adj" fmla="val 13889"/>
            </a:avLst>
          </a:prstGeom>
          <a:solidFill>
            <a:srgbClr val="F4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874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18745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52160" y="1874520"/>
            <a:ext cx="2286000" cy="658368"/>
          </a:xfrm>
          <a:prstGeom prst="roundRect">
            <a:avLst>
              <a:gd name="adj" fmla="val 13889"/>
            </a:avLst>
          </a:prstGeom>
          <a:solidFill>
            <a:srgbClr val="F4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874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SUBMITTED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18745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03920" y="1874520"/>
            <a:ext cx="2286000" cy="658368"/>
          </a:xfrm>
          <a:prstGeom prst="roundRect">
            <a:avLst>
              <a:gd name="adj" fmla="val 13889"/>
            </a:avLst>
          </a:prstGeom>
          <a:solidFill>
            <a:srgbClr val="F4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874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CLOSE-OUT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461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3246120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779776" y="3246120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F4F6F8"/>
          </a:solidFill>
          <a:ln w="19050">
            <a:solidFill>
              <a:srgbClr val="F2A8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9776" y="32461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79776" y="39136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resume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0016" y="3246120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10912" y="3246120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F4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2461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31152" y="3246120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242048" y="3246120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F4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32461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62288" y="3246120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473184" y="3246120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F4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73184" y="32461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34340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4988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is the only working state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9808" y="48280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drawings and purchase requisitions can only be created while a project is ACTIVE.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261104" y="434340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44988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 freezes new work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62272" y="48280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tasks, documents and PRs are blocked; approvals already in progress still finish.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973568" y="434340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74736" y="44988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CANCELLED end the story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74736" y="48280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read-only records kept for audit and for future tender pricing.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DCOS-PRJ-TRN-001  |  R1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screens cover the whole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367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List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projects, filters, saved views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6367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Wizard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20440" y="2258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steps, each one saves on its own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367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Board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2258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columns with deadline countdown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16367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9828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98280" y="2258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setup ring, contract, milestones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026664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54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34838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Checklist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" y="3776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mobilisation cockpit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3026664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154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20440" y="34838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Roster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520440" y="3776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on the project, and from when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3026664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154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09360" y="34838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Header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09360" y="3776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value, revisions, current value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15400" y="3026664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3154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98280" y="34838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098280" y="3776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dates with LD flags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544568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672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31520" y="50017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Editor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31520" y="529437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pattern and site holidays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37560" y="4544568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4672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520440" y="50017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Numbering Rules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3520440" y="529437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number patterns and locks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26480" y="4544568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4672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309360" y="50017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Settings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309360" y="529437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Defaults, workflow and notifications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915400" y="4544568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98280" y="4672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098280" y="50017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9098280" y="529437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approver and consequences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DCOS-PRJ-TRN-001  |  R1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PROCEDURE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Letter of Award to live project in 10 working 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blocking items must be complete before the Director can activate the project. Until then, no tasks, drawings or purchase orders can be created.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375A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42032"/>
            <a:ext cx="548640" cy="548640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header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enters type, value, currency, dates, DLP, retention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133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23317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375A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542032"/>
            <a:ext cx="548640" cy="548640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2004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3520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assigns the PM — exactly one at any 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4133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23317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375A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542032"/>
            <a:ext cx="548640" cy="548640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2004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root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3520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triggers creation of the project spine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133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15400" y="23317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375A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2542032"/>
            <a:ext cx="548640" cy="548640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0" y="32004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Numbering rules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0" y="3520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Controller sets drawing, RFI, PR and PO patterns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0" y="4133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Controller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8006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892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PM requests activation → Director approves → project turns ACTIVE and every module unlocks.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68680" y="52303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 on screen shows working days used against the 10-day target. If it stalls, the Director is alerted automatically.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DCOS-PRJ-TRN-001  |  R1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the system will never let you undo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9824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566928" cy="566928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47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2768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Numbering locks on first use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72768" y="23317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first drawing or RFI number is issued, its pattern is frozen forever. Confirm the preview with the PM before anything is issued.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81344" y="1554480"/>
            <a:ext cx="5449824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55664" y="1847088"/>
            <a:ext cx="566928" cy="566928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847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05472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value is never edited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05472" y="23317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value is permanent. Every change is a revision with a reason and a reference. Current value = original + approved revisions.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449824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41648"/>
            <a:ext cx="566928" cy="566928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41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72768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Project Manager, always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72768" y="45262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can never have zero or two PMs. Replacing a PM is a single swap action — never remove and re-add.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81344" y="3749040"/>
            <a:ext cx="5449824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4041648"/>
            <a:ext cx="566928" cy="566928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4041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05472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approve your own request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05472" y="45262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requests a status change or a contract revision cannot be the approver. This protects both the company and the individual.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DCOS-PRJ-TRN-001  |  R1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OTHERS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and how to avoid them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0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148132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avoid 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a drawing before numbering is confirmed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pattern is locked permanently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1828800"/>
            <a:ext cx="3136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confirms the preview in writing first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8833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PM then adding a new 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68833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left with no PM and approvals stall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2688336"/>
            <a:ext cx="3136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the Change PM 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47872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4787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IT to “fix” a contract value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54787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by design — and it hides the change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3547872"/>
            <a:ext cx="3136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contract revision with a reason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07408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40740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tender loss reasons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40740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learns nothing for the next bid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4407408"/>
            <a:ext cx="3136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reason code plus one honest sentence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66944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26694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conversion items to day nine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526694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10-day target is missed and the Director is alerted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21040" y="5266944"/>
            <a:ext cx="3136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 checks the counter every day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DCOS-PRJ-TRN-001  |  R1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story runs through the whole training: Tower 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Trainees follow a single real-shaped project — P014 Tower A for client Mekong Development, USD 12.4 million lump sum — from first opportunity to first issued drawing. Roles are swapped so everyone sees both sides of an approval.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774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Jan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tender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40680" y="237744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 Feb, 14:00 — with the time, not just the date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17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bid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40680" y="301752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12.4M submitted, transmittal reference captured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576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57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3657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win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40680" y="365760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Award entered — checklist opens automatically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19–24 Mar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48840" y="4297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four items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40680" y="429768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PM, WBS root, numbering — in the correct roles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377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937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48840" y="4937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40680" y="493776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approves — 6 working days used, target met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577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577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Apr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48840" y="5577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drawing issued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40680" y="557784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P014-STR-DWG-B01-L01-001-R00 — numbering now locked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DCOS-PRJ-TRN-001  |  R1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ON YOUR DESK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actions, one line each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9824" cy="932688"/>
          </a:xfrm>
          <a:prstGeom prst="roundRect">
            <a:avLst>
              <a:gd name="adj" fmla="val 78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83664"/>
            <a:ext cx="256032" cy="256032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16824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tender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993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→ Register → client, value, deadline with time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81344" y="1554480"/>
            <a:ext cx="5449824" cy="932688"/>
          </a:xfrm>
          <a:prstGeom prst="roundRect">
            <a:avLst>
              <a:gd name="adj" fmla="val 78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1883664"/>
            <a:ext cx="256032" cy="256032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9712" y="16824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win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39712" y="1993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Result → LOA reference → checklist opens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5449824" cy="932688"/>
          </a:xfrm>
          <a:prstGeom prst="roundRect">
            <a:avLst>
              <a:gd name="adj" fmla="val 78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999232"/>
            <a:ext cx="256032" cy="256032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2798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an award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3108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→ PM → WBS root → Numbering → Activate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1344" y="2670048"/>
            <a:ext cx="5449824" cy="932688"/>
          </a:xfrm>
          <a:prstGeom prst="roundRect">
            <a:avLst>
              <a:gd name="adj" fmla="val 78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2999232"/>
            <a:ext cx="256032" cy="256032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2798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39712" y="3108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→ Change PM → incoming person + effective 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5449824" cy="932688"/>
          </a:xfrm>
          <a:prstGeom prst="roundRect">
            <a:avLst>
              <a:gd name="adj" fmla="val 78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114800"/>
            <a:ext cx="256032" cy="256032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3913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a contract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7008" y="42245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→ New Revision → delta, reason, reference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81344" y="3785616"/>
            <a:ext cx="5449824" cy="932688"/>
          </a:xfrm>
          <a:prstGeom prst="roundRect">
            <a:avLst>
              <a:gd name="adj" fmla="val 78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7376" y="4114800"/>
            <a:ext cx="256032" cy="256032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3913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numbering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9712" y="42245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→ PM confirms → then issue. It locks.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901184"/>
            <a:ext cx="5449824" cy="932688"/>
          </a:xfrm>
          <a:prstGeom prst="roundRect">
            <a:avLst>
              <a:gd name="adj" fmla="val 78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5230368"/>
            <a:ext cx="256032" cy="256032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5029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project on hold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07008" y="53400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reason citing the client letter → Director approves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81344" y="4901184"/>
            <a:ext cx="5449824" cy="932688"/>
          </a:xfrm>
          <a:prstGeom prst="roundRect">
            <a:avLst>
              <a:gd name="adj" fmla="val 784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37376" y="5230368"/>
            <a:ext cx="256032" cy="256032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9712" y="5029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 project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39712" y="53400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certificate → final account → handover → CLOSED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DCOS-PRJ-TRN-001  |  R1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COMPETENCE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before system access is granted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questions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written check covering statuses, locks, PM rules and approvals. Answer key included in the guide.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77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2296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criteria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on the live sandbox, not on theory.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standard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0520" y="1920240"/>
            <a:ext cx="7479792" cy="658368"/>
          </a:xfrm>
          <a:prstGeom prst="roundRect">
            <a:avLst>
              <a:gd name="adj" fmla="val 1111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19202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registration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12280" y="19202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entered with time and timezone; alerts visible on the board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60520" y="2688336"/>
            <a:ext cx="7479792" cy="658368"/>
          </a:xfrm>
          <a:prstGeom prst="roundRect">
            <a:avLst>
              <a:gd name="adj" fmla="val 11111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26883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award conversion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12280" y="268833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blocking items completed in the correct roles; project reaches ACTIVE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60520" y="3456432"/>
            <a:ext cx="7479792" cy="658368"/>
          </a:xfrm>
          <a:prstGeom prst="roundRect">
            <a:avLst>
              <a:gd name="adj" fmla="val 1111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0832" y="34564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revision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12280" y="34564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carries a reason and reference; current value verified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60520" y="4224528"/>
            <a:ext cx="7479792" cy="658368"/>
          </a:xfrm>
          <a:prstGeom prst="roundRect">
            <a:avLst>
              <a:gd name="adj" fmla="val 11111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42245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Numbering discipline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12280" y="422452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confirmed before issue; can explain the lock rule in own words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60520" y="4992624"/>
            <a:ext cx="7479792" cy="658368"/>
          </a:xfrm>
          <a:prstGeom prst="roundRect">
            <a:avLst>
              <a:gd name="adj" fmla="val 1111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499262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discipline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12280" y="499262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separation of duties; reasons cite letters or certificates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DCOS-PRJ-TRN-001  |  R1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Terms every user should recognise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9824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88920" y="157276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Award — the client's formal award notice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81344" y="1572768"/>
            <a:ext cx="5449824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9944" y="15727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Mobilisation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21624" y="157276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award-to-site-start period, measured here in working days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5449824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871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Completion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248716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complete for use — starts the defect liability period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2487168"/>
            <a:ext cx="5449824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24871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21624" y="248716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Liability Period — the post-completion defect obligation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01568"/>
            <a:ext cx="5449824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4015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Account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88920" y="340156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agreed final contract value — the gate to closing a project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81344" y="3401568"/>
            <a:ext cx="5449824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34015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21624" y="340156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withheld from payments as performance security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315968"/>
            <a:ext cx="5449824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3159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88920" y="431596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Liquidated Damages — contractual delay damages, flagged on milestones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81344" y="4315968"/>
            <a:ext cx="5449824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43159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WBS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21624" y="431596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Breakdown Structure — the spine every record hangs from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230368"/>
            <a:ext cx="5449824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303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88920" y="523036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Payment Certificate — the monthly claim to the client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81344" y="5230368"/>
            <a:ext cx="5449824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52303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duties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21624" y="523036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requester of a change can never be its approver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DCOS-PRJ-TRN-001  |  R1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2E6E8E">
              <a:alpha val="32000"/>
            </a:srgbClr>
          </a:solidFill>
          <a:ln w="12700">
            <a:solidFill>
              <a:srgbClr val="2E6E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 to go live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29584" cy="2011680"/>
          </a:xfrm>
          <a:prstGeom prst="roundRect">
            <a:avLst>
              <a:gd name="adj" fmla="val 4545"/>
            </a:avLst>
          </a:prstGeom>
          <a:solidFill>
            <a:srgbClr val="16375A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34640"/>
            <a:ext cx="548640" cy="548640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four tracks in the sandbox tenant using the Tower A story.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61104" y="2606040"/>
            <a:ext cx="3529584" cy="2011680"/>
          </a:xfrm>
          <a:prstGeom prst="roundRect">
            <a:avLst>
              <a:gd name="adj" fmla="val 4545"/>
            </a:avLst>
          </a:prstGeom>
          <a:solidFill>
            <a:srgbClr val="16375A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2834640"/>
            <a:ext cx="548640" cy="548640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5424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35424" y="3886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plus practical assessment; access granted on pass.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73568" y="2606040"/>
            <a:ext cx="3529584" cy="2011680"/>
          </a:xfrm>
          <a:prstGeom prst="roundRect">
            <a:avLst>
              <a:gd name="adj" fmla="val 4545"/>
            </a:avLst>
          </a:prstGeom>
          <a:solidFill>
            <a:srgbClr val="16375A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2834640"/>
            <a:ext cx="548640" cy="548640"/>
          </a:xfrm>
          <a:prstGeom prst="ellips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47888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47888" y="3886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project registered with the trainer present, then month-end portfolio review becomes routine.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project setup is the cheapest risk control a construction company can buy.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12-Training-Guide.md  ·  DCOS-PRJ-TRN-001  ·  Module 04-02 Project Setup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DCOS Project Setup — Training Summary</dc:title>
  <dc:subject>PptxGenJS Presentation</dc:subject>
  <dc:creator>DCOS Architecture</dc:creator>
  <cp:lastModifiedBy>DCOS Architecture</cp:lastModifiedBy>
  <cp:revision>1</cp:revision>
  <dcterms:created xsi:type="dcterms:W3CDTF">2026-08-08T08:06:26Z</dcterms:created>
  <dcterms:modified xsi:type="dcterms:W3CDTF">2026-08-08T08:06:26Z</dcterms:modified>
</cp:coreProperties>
</file>
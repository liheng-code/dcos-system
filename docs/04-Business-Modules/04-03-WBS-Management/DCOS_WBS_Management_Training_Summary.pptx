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Opening: this session is about one thing — the addressing system that every other part of DCOS depends on. Keep it practical; the audience includes clients.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the room: how many versions of the floor list exist on your current project? Usually the answer is more than four.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at the amber node: this is a work package — the lowest structural level, and the thing a QS can measure and a supervisor can report against.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Emphasise: the override exists for genuine data lag, not for making a report look better before a client meeting.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handing out the quick reference cards: reading a code, before you move a node, blocked deletion, monthly check, raising a change request, roll-up methods, status meanings.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258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DCOS  ·  DIGITAL CONSTRUCTION OPERATING SYSTEM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1737360"/>
            <a:ext cx="7498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WBS Management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731520" y="2880360"/>
            <a:ext cx="7132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CB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project breakdown structure works —</a:t>
            </a:r>
            <a:endParaRPr lang="en-US" sz="17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CB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why it protects your programme, your cost report, and your claim.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31520" y="397764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&amp; orientation  ·  For project teams and clients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544068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93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04-03  ·  Foundation Phase  ·  Version R1  ·  August 2026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8686800" y="169164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2C4049"/>
          </a:solidFill>
          <a:ln w="9525">
            <a:solidFill>
              <a:srgbClr val="445B6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796528" y="16916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6D5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P001  Tower A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8851392" y="2148840"/>
            <a:ext cx="0" cy="182880"/>
          </a:xfrm>
          <a:prstGeom prst="line">
            <a:avLst/>
          </a:prstGeom>
          <a:noFill/>
          <a:ln w="12700">
            <a:solidFill>
              <a:srgbClr val="56707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006840" y="2331720"/>
            <a:ext cx="2331720" cy="457200"/>
          </a:xfrm>
          <a:prstGeom prst="roundRect">
            <a:avLst>
              <a:gd name="adj" fmla="val 12000"/>
            </a:avLst>
          </a:prstGeom>
          <a:solidFill>
            <a:srgbClr val="2C4049"/>
          </a:solidFill>
          <a:ln w="9525">
            <a:solidFill>
              <a:srgbClr val="445B6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16568" y="233172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6D5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PH2  Superstructure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9171432" y="2788920"/>
            <a:ext cx="0" cy="182880"/>
          </a:xfrm>
          <a:prstGeom prst="line">
            <a:avLst/>
          </a:prstGeom>
          <a:noFill/>
          <a:ln w="12700">
            <a:solidFill>
              <a:srgbClr val="56707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326880" y="2971800"/>
            <a:ext cx="2011680" cy="457200"/>
          </a:xfrm>
          <a:prstGeom prst="roundRect">
            <a:avLst>
              <a:gd name="adj" fmla="val 12000"/>
            </a:avLst>
          </a:prstGeom>
          <a:solidFill>
            <a:srgbClr val="2C4049"/>
          </a:solidFill>
          <a:ln w="9525">
            <a:solidFill>
              <a:srgbClr val="445B6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436608" y="29718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6D5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B01  Tower A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9491472" y="3429000"/>
            <a:ext cx="0" cy="182880"/>
          </a:xfrm>
          <a:prstGeom prst="line">
            <a:avLst/>
          </a:prstGeom>
          <a:noFill/>
          <a:ln w="12700">
            <a:solidFill>
              <a:srgbClr val="56707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646920" y="3611880"/>
            <a:ext cx="1691640" cy="457200"/>
          </a:xfrm>
          <a:prstGeom prst="roundRect">
            <a:avLst>
              <a:gd name="adj" fmla="val 12000"/>
            </a:avLst>
          </a:prstGeom>
          <a:solidFill>
            <a:srgbClr val="2C4049"/>
          </a:solidFill>
          <a:ln w="9525">
            <a:solidFill>
              <a:srgbClr val="445B6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756648" y="361188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6D5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  Level 05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9811512" y="4069080"/>
            <a:ext cx="0" cy="182880"/>
          </a:xfrm>
          <a:prstGeom prst="line">
            <a:avLst/>
          </a:prstGeom>
          <a:noFill/>
          <a:ln w="12700">
            <a:solidFill>
              <a:srgbClr val="56707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966960" y="4251960"/>
            <a:ext cx="1371600" cy="457200"/>
          </a:xfrm>
          <a:prstGeom prst="roundRect">
            <a:avLst>
              <a:gd name="adj" fmla="val 12000"/>
            </a:avLst>
          </a:prstGeom>
          <a:solidFill>
            <a:srgbClr val="2C4049"/>
          </a:solidFill>
          <a:ln w="9525">
            <a:solidFill>
              <a:srgbClr val="445B6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076688" y="42519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6D5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Z03  Zone 03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10131552" y="4709160"/>
            <a:ext cx="0" cy="182880"/>
          </a:xfrm>
          <a:prstGeom prst="line">
            <a:avLst/>
          </a:prstGeom>
          <a:noFill/>
          <a:ln w="12700">
            <a:solidFill>
              <a:srgbClr val="56707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287000" y="4892040"/>
            <a:ext cx="1051560" cy="457200"/>
          </a:xfrm>
          <a:prstGeom prst="roundRect">
            <a:avLst>
              <a:gd name="adj" fmla="val 12000"/>
            </a:avLst>
          </a:prstGeom>
          <a:solidFill>
            <a:srgbClr val="E8A33D"/>
          </a:solidFill>
          <a:ln w="9525">
            <a:solidFill>
              <a:srgbClr val="E8A33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396728" y="4892040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  Slab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building, four versions of the truth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work is broken down today — and what it costs every month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2971800" cy="1371600"/>
          </a:xfrm>
          <a:prstGeom prst="roundRect">
            <a:avLst>
              <a:gd name="adj" fmla="val 5333"/>
            </a:avLst>
          </a:prstGeom>
          <a:solidFill>
            <a:srgbClr val="F1F4F5"/>
          </a:solidFill>
          <a:ln w="9525">
            <a:solidFill>
              <a:srgbClr val="D8DEE1"/>
            </a:solidFill>
            <a:prstDash val="solid"/>
          </a:ln>
          <a:effectLst>
            <a:outerShdw sx="100000" sy="100000" kx="0" ky="0" algn="bl" rotWithShape="0" blurRad="127000" dist="127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90195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Planner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68680" y="2267712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E5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the breakdown in Primavera, organised by activity.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886200" y="1737360"/>
            <a:ext cx="2971800" cy="1371600"/>
          </a:xfrm>
          <a:prstGeom prst="roundRect">
            <a:avLst>
              <a:gd name="adj" fmla="val 5333"/>
            </a:avLst>
          </a:prstGeom>
          <a:solidFill>
            <a:srgbClr val="F1F4F5"/>
          </a:solidFill>
          <a:ln w="9525">
            <a:solidFill>
              <a:srgbClr val="D8DEE1"/>
            </a:solidFill>
            <a:prstDash val="solid"/>
          </a:ln>
          <a:effectLst>
            <a:outerShdw sx="100000" sy="100000" kx="0" ky="0" algn="bl" rotWithShape="0" blurRad="127000" dist="127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114800" y="190195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114800" y="2267712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E5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it in the BOQ, organised by trade and bill section.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0080" y="3310128"/>
            <a:ext cx="2971800" cy="1371600"/>
          </a:xfrm>
          <a:prstGeom prst="roundRect">
            <a:avLst>
              <a:gd name="adj" fmla="val 5333"/>
            </a:avLst>
          </a:prstGeom>
          <a:solidFill>
            <a:srgbClr val="F1F4F5"/>
          </a:solidFill>
          <a:ln w="9525">
            <a:solidFill>
              <a:srgbClr val="D8DEE1"/>
            </a:solidFill>
            <a:prstDash val="solid"/>
          </a:ln>
          <a:effectLst>
            <a:outerShdw sx="100000" sy="100000" kx="0" ky="0" algn="bl" rotWithShape="0" blurRad="127000" dist="12700" dir="54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68680" y="347472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Document Controller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384048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E5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it hidden inside drawing numbers.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886200" y="3310128"/>
            <a:ext cx="2971800" cy="1371600"/>
          </a:xfrm>
          <a:prstGeom prst="roundRect">
            <a:avLst>
              <a:gd name="adj" fmla="val 5333"/>
            </a:avLst>
          </a:prstGeom>
          <a:solidFill>
            <a:srgbClr val="F1F4F5"/>
          </a:solidFill>
          <a:ln w="9525">
            <a:solidFill>
              <a:srgbClr val="D8DEE1"/>
            </a:solidFill>
            <a:prstDash val="solid"/>
          </a:ln>
          <a:effectLst>
            <a:outerShdw sx="100000" sy="100000" kx="0" ky="0" algn="bl" rotWithShape="0" blurRad="127000" dist="12700" dir="54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114800" y="347472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Site Team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114800" y="384048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E5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it on a whiteboard, floor by floor.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406640" y="1737360"/>
            <a:ext cx="4114800" cy="2926080"/>
          </a:xfrm>
          <a:prstGeom prst="roundRect">
            <a:avLst>
              <a:gd name="adj" fmla="val 2500"/>
            </a:avLst>
          </a:prstGeom>
          <a:solidFill>
            <a:srgbClr val="1B2A33"/>
          </a:solidFill>
          <a:ln w="9525">
            <a:solidFill>
              <a:srgbClr val="D8DEE1"/>
            </a:solidFill>
            <a:prstDash val="solid"/>
          </a:ln>
          <a:effectLst>
            <a:outerShdw sx="100000" sy="100000" kx="0" ky="0" algn="bl" rotWithShape="0" blurRad="127000" dist="12700" dir="54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635240" y="196596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6600" dirty="0"/>
          </a:p>
        </p:txBody>
      </p:sp>
      <p:sp>
        <p:nvSpPr>
          <p:cNvPr id="18" name="Text 16"/>
          <p:cNvSpPr/>
          <p:nvPr/>
        </p:nvSpPr>
        <p:spPr>
          <a:xfrm>
            <a:off x="7635240" y="309067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to one question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635240" y="347472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EC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“How is Level 05 doing?” produces four different numbers, computed against four different definitions of Level 05.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" y="49834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A84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cost: 2–4 staff-days per project every month spent reconciling reports — and contradictory numbers presented to the client.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640080" y="63276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DCOS Business Requirement, pain points PP-01 to PP-12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session covers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ideas, one skill, and the rules you will meet in daily use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457200" cy="45720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298448" y="1792224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five core ideas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98448" y="2139696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E5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WBS is here, why one structure, and why tasks sit outside the tree.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17920" y="1828800"/>
            <a:ext cx="457200" cy="45720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76288" y="1792224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a WBS code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876288" y="2139696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E5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single skill that makes the whole system navigable.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3200400"/>
            <a:ext cx="457200" cy="45720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98448" y="3163824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progress is calculated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98448" y="3511296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E5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Roll-up, weighting, and why you cannot type a summary figure.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17920" y="3200400"/>
            <a:ext cx="457200" cy="45720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0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876288" y="3163824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safeguards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876288" y="3511296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E5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guard, baseline lock, override flag — what they look like.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4572000"/>
            <a:ext cx="457200" cy="45720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4572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298448" y="4535424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screens and the rhythm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298448" y="4882896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E5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use daily, monthly, and at each milestone.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217920" y="4572000"/>
            <a:ext cx="457200" cy="45720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17920" y="4572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876288" y="4535424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training track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876288" y="4882896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E5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role-based paths, with hands-on exercises.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40080" y="63276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concepts: 60 minutes for everyone · Role tracks: 1.5 to 4 hours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Idea 1 — The WBS is your addressing system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folder tree. Every record in DCOS has a location in it.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51206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spcAft>
                <a:spcPts val="1000"/>
              </a:spcAft>
              <a:buNone/>
            </a:pPr>
            <a:r>
              <a:rPr lang="en-US" sz="1400" dirty="0">
                <a:solidFill>
                  <a:srgbClr val="3E5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task, drawing, cost line, material batch, inspection, photo, and payment valuation attaches to a location in this structure.</a:t>
            </a:r>
            <a:endParaRPr lang="en-US" sz="1400" dirty="0"/>
          </a:p>
          <a:p>
            <a:pPr indent="0" marL="0">
              <a:lnSpc>
                <a:spcPts val="2200"/>
              </a:lnSpc>
              <a:spcAft>
                <a:spcPts val="1000"/>
              </a:spcAft>
              <a:buNone/>
            </a:pPr>
            <a:r>
              <a:rPr lang="en-US" sz="1400" dirty="0">
                <a:solidFill>
                  <a:srgbClr val="3E5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is why DCOS can answer “how is Level 05 doing?” — Level 05 is a real object with real records attached to it.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3E5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node answers five questions: which project, which location, which discipline, who is responsible, what status.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4206240"/>
            <a:ext cx="5120640" cy="1508760"/>
          </a:xfrm>
          <a:prstGeom prst="roundRect">
            <a:avLst>
              <a:gd name="adj" fmla="val 4848"/>
            </a:avLst>
          </a:prstGeom>
          <a:solidFill>
            <a:srgbClr val="F1F4F5"/>
          </a:solidFill>
          <a:ln w="9525">
            <a:solidFill>
              <a:srgbClr val="D8DEE1"/>
            </a:solidFill>
            <a:prstDash val="solid"/>
          </a:ln>
          <a:effectLst>
            <a:outerShdw sx="100000" sy="100000" kx="0" ky="0" algn="bl" rotWithShape="0" blurRad="127000" dist="127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4370832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five questions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470916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Project?   ·   Location?   ·   Discipline?   ·   Responsible?   ·   Status?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309360" y="1828800"/>
            <a:ext cx="521208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DEE1"/>
            </a:solidFill>
            <a:prstDash val="solid"/>
          </a:ln>
          <a:effectLst>
            <a:outerShdw sx="100000" sy="100000" kx="0" ky="0" algn="bl" rotWithShape="0" blurRad="127000" dist="127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73952" y="18288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P001   </a:t>
            </a:r>
            <a:pPr indent="0" marL="0">
              <a:buNone/>
            </a:pPr>
            <a:r>
              <a:rPr lang="en-US" sz="1150" dirty="0">
                <a:solidFill>
                  <a:srgbClr val="6B7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Tower A Mixed-Use Development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565392" y="2395728"/>
            <a:ext cx="4956048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DEE1"/>
            </a:solidFill>
            <a:prstDash val="solid"/>
          </a:ln>
          <a:effectLst>
            <a:outerShdw sx="100000" sy="100000" kx="0" ky="0" algn="bl" rotWithShape="0" blurRad="127000" dist="12700" dir="54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729984" y="2395728"/>
            <a:ext cx="4590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PH2   </a:t>
            </a:r>
            <a:pPr indent="0" marL="0">
              <a:buNone/>
            </a:pPr>
            <a:r>
              <a:rPr lang="en-US" sz="1150" dirty="0">
                <a:solidFill>
                  <a:srgbClr val="6B7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Superstructure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821424" y="2962656"/>
            <a:ext cx="4700016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DEE1"/>
            </a:solidFill>
            <a:prstDash val="solid"/>
          </a:ln>
          <a:effectLst>
            <a:outerShdw sx="100000" sy="100000" kx="0" ky="0" algn="bl" rotWithShape="0" blurRad="127000" dist="12700" dir="54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986016" y="2962656"/>
            <a:ext cx="4334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B01   </a:t>
            </a:r>
            <a:pPr indent="0" marL="0">
              <a:buNone/>
            </a:pPr>
            <a:r>
              <a:rPr lang="en-US" sz="1150" dirty="0">
                <a:solidFill>
                  <a:srgbClr val="6B7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Tower A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077456" y="3529584"/>
            <a:ext cx="4443984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DEE1"/>
            </a:solidFill>
            <a:prstDash val="solid"/>
          </a:ln>
          <a:effectLst>
            <a:outerShdw sx="100000" sy="100000" kx="0" ky="0" algn="bl" rotWithShape="0" blurRad="127000" dist="127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242048" y="3529584"/>
            <a:ext cx="4078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   </a:t>
            </a:r>
            <a:pPr indent="0" marL="0">
              <a:buNone/>
            </a:pPr>
            <a:r>
              <a:rPr lang="en-US" sz="1150" dirty="0">
                <a:solidFill>
                  <a:srgbClr val="6B7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05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333488" y="4096512"/>
            <a:ext cx="4187952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DEE1"/>
            </a:solidFill>
            <a:prstDash val="solid"/>
          </a:ln>
          <a:effectLst>
            <a:outerShdw sx="100000" sy="100000" kx="0" ky="0" algn="bl" rotWithShape="0" blurRad="127000" dist="12700" dir="54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498080" y="4096512"/>
            <a:ext cx="3822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Z03   </a:t>
            </a:r>
            <a:pPr indent="0" marL="0">
              <a:buNone/>
            </a:pPr>
            <a:r>
              <a:rPr lang="en-US" sz="1150" dirty="0">
                <a:solidFill>
                  <a:srgbClr val="6B7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03 (East Wing)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589520" y="4663440"/>
            <a:ext cx="393192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DEE1"/>
            </a:solidFill>
            <a:prstDash val="solid"/>
          </a:ln>
          <a:effectLst>
            <a:outerShdw sx="100000" sy="100000" kx="0" ky="0" algn="bl" rotWithShape="0" blurRad="127000" dist="12700" dir="54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754112" y="46634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   </a:t>
            </a:r>
            <a:pPr indent="0" marL="0">
              <a:buNone/>
            </a:pPr>
            <a:r>
              <a:rPr lang="en-US" sz="1150" dirty="0">
                <a:solidFill>
                  <a:srgbClr val="6B7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845552" y="5230368"/>
            <a:ext cx="3675888" cy="457200"/>
          </a:xfrm>
          <a:prstGeom prst="roundRect">
            <a:avLst>
              <a:gd name="adj" fmla="val 12000"/>
            </a:avLst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  <a:effectLst>
            <a:outerShdw sx="100000" sy="100000" kx="0" ky="0" algn="bl" rotWithShape="0" blurRad="127000" dist="12700" dir="54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010144" y="5230368"/>
            <a:ext cx="3310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SLAB   </a:t>
            </a:r>
            <a:pPr indent="0" marL="0">
              <a:buNone/>
            </a:pPr>
            <a:r>
              <a:rPr lang="en-US" sz="1150" dirty="0">
                <a:solidFill>
                  <a:srgbClr val="3A2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Slab to L05  —  work package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Idea 2 — One structure means one answer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spine serves planning, cost, documents, QA, and site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257800" cy="4023360"/>
          </a:xfrm>
          <a:prstGeom prst="roundRect">
            <a:avLst>
              <a:gd name="adj" fmla="val 1818"/>
            </a:avLst>
          </a:prstGeom>
          <a:solidFill>
            <a:srgbClr val="F1F4F5"/>
          </a:solidFill>
          <a:ln w="9525">
            <a:solidFill>
              <a:srgbClr val="D8DEE1"/>
            </a:solidFill>
            <a:prstDash val="solid"/>
          </a:ln>
          <a:effectLst>
            <a:outerShdw sx="100000" sy="100000" kx="0" ky="0" algn="bl" rotWithShape="0" blurRad="127000" dist="127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93852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4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 shared spine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2395728"/>
            <a:ext cx="47548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E5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departments, four breakdowns of the same building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E5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reconciled by hand in Excel every month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E5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answerable by code, never by location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E5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numbers orphaned when a level is renamed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E5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Subcontractors see everything — or nothing at all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63640" y="1737360"/>
            <a:ext cx="5257800" cy="4023360"/>
          </a:xfrm>
          <a:prstGeom prst="roundRect">
            <a:avLst>
              <a:gd name="adj" fmla="val 1818"/>
            </a:avLst>
          </a:prstGeom>
          <a:solidFill>
            <a:srgbClr val="1B2A33"/>
          </a:solidFill>
          <a:ln w="9525">
            <a:solidFill>
              <a:srgbClr val="D8DEE1"/>
            </a:solidFill>
            <a:prstDash val="solid"/>
          </a:ln>
          <a:effectLst>
            <a:outerShdw sx="100000" sy="100000" kx="0" ky="0" algn="bl" rotWithShape="0" blurRad="127000" dist="127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37960" y="193852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DCOS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537960" y="2395728"/>
            <a:ext cx="47548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B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definition of “Level 05” across every department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B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rolls up automatically from the work face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B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aggregated by zone, level, building, and phase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B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 document numbers still resolve after a change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B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party sees exactly the area assigned to them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63276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departments work in different rooms — but the building is one building.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Idea 3 — Tasks attach to the tree, not into it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still see them under the location. The screen joins them — the structure does not carry them.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4023360" cy="2286000"/>
          </a:xfrm>
          <a:prstGeom prst="roundRect">
            <a:avLst>
              <a:gd name="adj" fmla="val 3200"/>
            </a:avLst>
          </a:prstGeom>
          <a:solidFill>
            <a:srgbClr val="1B2A33"/>
          </a:solidFill>
          <a:ln w="9525">
            <a:solidFill>
              <a:srgbClr val="D8DEE1"/>
            </a:solidFill>
            <a:prstDash val="solid"/>
          </a:ln>
          <a:effectLst>
            <a:outerShdw sx="100000" sy="100000" kx="0" ky="0" algn="bl" rotWithShape="0" blurRad="127000" dist="127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20574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P001-PH2-B01-L05-Z03-STR-SLAB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868680" y="239572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Slab to L05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68680" y="288036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EC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work package —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AEC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location in the structure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68680" y="36118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7E93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PACKAGE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394960" y="1828800"/>
            <a:ext cx="2926080" cy="566928"/>
          </a:xfrm>
          <a:prstGeom prst="roundRect">
            <a:avLst>
              <a:gd name="adj" fmla="val 16129"/>
            </a:avLst>
          </a:prstGeom>
          <a:solidFill>
            <a:srgbClr val="F1F4F5"/>
          </a:solidFill>
          <a:ln w="12700">
            <a:solidFill>
              <a:srgbClr val="D8DE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23560" y="1828800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tasks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549640" y="1828800"/>
            <a:ext cx="2926080" cy="566928"/>
          </a:xfrm>
          <a:prstGeom prst="roundRect">
            <a:avLst>
              <a:gd name="adj" fmla="val 16129"/>
            </a:avLst>
          </a:prstGeom>
          <a:solidFill>
            <a:srgbClr val="F1F4F5"/>
          </a:solidFill>
          <a:ln w="12700">
            <a:solidFill>
              <a:srgbClr val="D8DE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778240" y="1828800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 drawings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394960" y="2606040"/>
            <a:ext cx="2926080" cy="566928"/>
          </a:xfrm>
          <a:prstGeom prst="roundRect">
            <a:avLst>
              <a:gd name="adj" fmla="val 16129"/>
            </a:avLst>
          </a:prstGeom>
          <a:solidFill>
            <a:srgbClr val="F1F4F5"/>
          </a:solidFill>
          <a:ln w="12700">
            <a:solidFill>
              <a:srgbClr val="D8DE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23560" y="2606040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BOQ cost lines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549640" y="2606040"/>
            <a:ext cx="2926080" cy="566928"/>
          </a:xfrm>
          <a:prstGeom prst="roundRect">
            <a:avLst>
              <a:gd name="adj" fmla="val 16129"/>
            </a:avLst>
          </a:prstGeom>
          <a:solidFill>
            <a:srgbClr val="F1F4F5"/>
          </a:solidFill>
          <a:ln w="12700">
            <a:solidFill>
              <a:srgbClr val="D8DE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778240" y="2606040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Inspection requests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394960" y="3383280"/>
            <a:ext cx="2926080" cy="566928"/>
          </a:xfrm>
          <a:prstGeom prst="roundRect">
            <a:avLst>
              <a:gd name="adj" fmla="val 16129"/>
            </a:avLst>
          </a:prstGeom>
          <a:solidFill>
            <a:srgbClr val="F1F4F5"/>
          </a:solidFill>
          <a:ln w="12700">
            <a:solidFill>
              <a:srgbClr val="D8DE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23560" y="3383280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photos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549640" y="3383280"/>
            <a:ext cx="2926080" cy="566928"/>
          </a:xfrm>
          <a:prstGeom prst="roundRect">
            <a:avLst>
              <a:gd name="adj" fmla="val 16129"/>
            </a:avLst>
          </a:prstGeom>
          <a:solidFill>
            <a:srgbClr val="F1F4F5"/>
          </a:solidFill>
          <a:ln w="12700">
            <a:solidFill>
              <a:srgbClr val="D8DE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778240" y="3383280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batches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709160" y="2971800"/>
            <a:ext cx="640080" cy="0"/>
          </a:xfrm>
          <a:prstGeom prst="line">
            <a:avLst/>
          </a:prstGeom>
          <a:noFill/>
          <a:ln w="25400">
            <a:solidFill>
              <a:srgbClr val="E8A33D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640080" y="4434840"/>
            <a:ext cx="10881360" cy="1325880"/>
          </a:xfrm>
          <a:prstGeom prst="roundRect">
            <a:avLst>
              <a:gd name="adj" fmla="val 5517"/>
            </a:avLst>
          </a:prstGeom>
          <a:solidFill>
            <a:srgbClr val="F1F4F5"/>
          </a:solidFill>
          <a:ln w="9525">
            <a:solidFill>
              <a:srgbClr val="D8DEE1"/>
            </a:solidFill>
            <a:prstDash val="solid"/>
          </a:ln>
          <a:effectLst>
            <a:outerShdw sx="100000" sy="100000" kx="0" ky="0" algn="bl" rotWithShape="0" blurRad="127000" dist="12700" dir="54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914400" y="45902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14400" y="489204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E5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20-storey tower has roughly 5,000 locations and 80,000 tasks. Keeping tasks out of the structure is what keeps the tree fast, stable, and capable of being baselined — so last month's valuation can still be reconciled to this month's.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Idea 4 — Progress is calculated, never typed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one that changes behaviour. You cannot type “Level 05 is 60%”.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6766560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9525">
            <a:solidFill>
              <a:srgbClr val="D8DEE1"/>
            </a:solidFill>
            <a:prstDash val="solid"/>
          </a:ln>
          <a:effectLst>
            <a:outerShdw sx="100000" sy="100000" kx="0" ky="0" algn="bl" rotWithShape="0" blurRad="127000" dist="127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99339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514600" y="199339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progress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60520" y="199339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(budget)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806440" y="199339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68680" y="2331720"/>
            <a:ext cx="6309360" cy="0"/>
          </a:xfrm>
          <a:prstGeom prst="line">
            <a:avLst/>
          </a:prstGeom>
          <a:noFill/>
          <a:ln w="12700">
            <a:solidFill>
              <a:srgbClr val="D8DE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2450592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E5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514600" y="2450592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E5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70.0%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160520" y="2450592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E5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$180,000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806440" y="2450592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63.0%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68680" y="2889504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E5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MEP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514600" y="2889504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E5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30.0%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160520" y="2889504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E5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$20,000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806440" y="2889504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3.0%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68680" y="3364992"/>
            <a:ext cx="6309360" cy="0"/>
          </a:xfrm>
          <a:prstGeom prst="line">
            <a:avLst/>
          </a:prstGeom>
          <a:noFill/>
          <a:ln w="12700">
            <a:solidFill>
              <a:srgbClr val="D8DE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" y="349300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03  —  cost-weighted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160520" y="349300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E5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$200,000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6440" y="349300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66.0%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68680" y="3895344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equally instead of by cost, the same children would read 50%.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7772400" y="1828800"/>
            <a:ext cx="3749040" cy="2514600"/>
          </a:xfrm>
          <a:prstGeom prst="roundRect">
            <a:avLst>
              <a:gd name="adj" fmla="val 2909"/>
            </a:avLst>
          </a:prstGeom>
          <a:solidFill>
            <a:srgbClr val="1B2A33"/>
          </a:solidFill>
          <a:ln w="9525">
            <a:solidFill>
              <a:srgbClr val="D8DEE1"/>
            </a:solidFill>
            <a:prstDash val="solid"/>
          </a:ln>
          <a:effectLst>
            <a:outerShdw sx="100000" sy="100000" kx="0" ky="0" algn="bl" rotWithShape="0" blurRad="127000" dist="12700" dir="540000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8001000" y="214884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66.0%</a:t>
            </a:r>
            <a:endParaRPr lang="en-US" sz="5000" dirty="0"/>
          </a:p>
        </p:txBody>
      </p:sp>
      <p:sp>
        <p:nvSpPr>
          <p:cNvPr id="25" name="Text 23"/>
          <p:cNvSpPr/>
          <p:nvPr/>
        </p:nvSpPr>
        <p:spPr>
          <a:xfrm>
            <a:off x="8001000" y="30632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Derived, not declared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001000" y="342900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EC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number looks wrong, the fix is in the work packages — not in the summary.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40080" y="4572000"/>
            <a:ext cx="10881360" cy="1188720"/>
          </a:xfrm>
          <a:prstGeom prst="roundRect">
            <a:avLst>
              <a:gd name="adj" fmla="val 6154"/>
            </a:avLst>
          </a:prstGeom>
          <a:solidFill>
            <a:srgbClr val="F1F4F5"/>
          </a:solidFill>
          <a:ln w="9525">
            <a:solidFill>
              <a:srgbClr val="D8DEE1"/>
            </a:solidFill>
            <a:prstDash val="solid"/>
          </a:ln>
          <a:effectLst>
            <a:outerShdw sx="100000" sy="100000" kx="0" ky="0" algn="bl" rotWithShape="0" blurRad="127000" dist="12700" dir="5400000">
              <a:srgbClr val="000000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914400" y="4709160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an override — and it is deliberately uncomfortable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914400" y="502920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E5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Managers and Directors only  ·  a reason code is compulsory  ·  the node is flagged in every report and export  ·  it appears on a report the Project Director reads.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five weighting methods, one line each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per branch — the QS decides which one is honest for the work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881360" cy="749808"/>
          </a:xfrm>
          <a:prstGeom prst="roundRect">
            <a:avLst>
              <a:gd name="adj" fmla="val 9756"/>
            </a:avLst>
          </a:prstGeom>
          <a:solidFill>
            <a:srgbClr val="F1F4F5"/>
          </a:solidFill>
          <a:ln w="9525">
            <a:solidFill>
              <a:srgbClr val="D8DEE1"/>
            </a:solidFill>
            <a:prstDash val="solid"/>
          </a:ln>
          <a:effectLst>
            <a:outerShdw sx="100000" sy="100000" kx="0" ky="0" algn="bl" rotWithShape="0" blurRad="127000" dist="127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929384"/>
            <a:ext cx="457200" cy="45720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9293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463040" y="1783080"/>
            <a:ext cx="219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 weight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749040" y="1783080"/>
            <a:ext cx="3200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E5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average of the children.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040880" y="1783080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planning only, before cost data exists.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2651760"/>
            <a:ext cx="10881360" cy="749808"/>
          </a:xfrm>
          <a:prstGeom prst="roundRect">
            <a:avLst>
              <a:gd name="adj" fmla="val 9756"/>
            </a:avLst>
          </a:prstGeom>
          <a:solidFill>
            <a:srgbClr val="F1F4F5"/>
          </a:solidFill>
          <a:ln w="9525">
            <a:solidFill>
              <a:srgbClr val="D8DEE1"/>
            </a:solidFill>
            <a:prstDash val="solid"/>
          </a:ln>
          <a:effectLst>
            <a:outerShdw sx="100000" sy="100000" kx="0" ky="0" algn="bl" rotWithShape="0" blurRad="127000" dist="12700" dir="54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68680" y="2798064"/>
            <a:ext cx="457200" cy="45720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27980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463040" y="2651760"/>
            <a:ext cx="219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weighted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749040" y="2651760"/>
            <a:ext cx="3200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E5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by each child's budget.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040880" y="2651760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default once the BOQ is loaded — and the commercially honest one.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3520440"/>
            <a:ext cx="10881360" cy="749808"/>
          </a:xfrm>
          <a:prstGeom prst="roundRect">
            <a:avLst>
              <a:gd name="adj" fmla="val 9756"/>
            </a:avLst>
          </a:prstGeom>
          <a:solidFill>
            <a:srgbClr val="F1F4F5"/>
          </a:solidFill>
          <a:ln w="9525">
            <a:solidFill>
              <a:srgbClr val="D8DEE1"/>
            </a:solidFill>
            <a:prstDash val="solid"/>
          </a:ln>
          <a:effectLst>
            <a:outerShdw sx="100000" sy="100000" kx="0" ky="0" algn="bl" rotWithShape="0" blurRad="127000" dist="127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68680" y="3666744"/>
            <a:ext cx="457200" cy="45720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36667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463040" y="3520440"/>
            <a:ext cx="219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 weighted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749040" y="3520440"/>
            <a:ext cx="3200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E5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by planned days.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7040880" y="3520440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Programme-driven reporting before cost loading.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40080" y="4389120"/>
            <a:ext cx="10881360" cy="749808"/>
          </a:xfrm>
          <a:prstGeom prst="roundRect">
            <a:avLst>
              <a:gd name="adj" fmla="val 9756"/>
            </a:avLst>
          </a:prstGeom>
          <a:solidFill>
            <a:srgbClr val="F1F4F5"/>
          </a:solidFill>
          <a:ln w="9525">
            <a:solidFill>
              <a:srgbClr val="D8DEE1"/>
            </a:solidFill>
            <a:prstDash val="solid"/>
          </a:ln>
          <a:effectLst>
            <a:outerShdw sx="100000" sy="100000" kx="0" ky="0" algn="bl" rotWithShape="0" blurRad="127000" dist="12700" dir="54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68680" y="4535424"/>
            <a:ext cx="457200" cy="45720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68680" y="45354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463040" y="4389120"/>
            <a:ext cx="219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Quantity weighted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749040" y="4389120"/>
            <a:ext cx="3200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E5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by measured quantities.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7040880" y="4389120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Repetitive work — piling, slabs, blockwork, cladding.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40080" y="5257800"/>
            <a:ext cx="10881360" cy="749808"/>
          </a:xfrm>
          <a:prstGeom prst="roundRect">
            <a:avLst>
              <a:gd name="adj" fmla="val 9756"/>
            </a:avLst>
          </a:prstGeom>
          <a:solidFill>
            <a:srgbClr val="FBF1E1"/>
          </a:solidFill>
          <a:ln w="9525">
            <a:solidFill>
              <a:srgbClr val="D8DEE1"/>
            </a:solidFill>
            <a:prstDash val="solid"/>
          </a:ln>
          <a:effectLst>
            <a:outerShdw sx="100000" sy="100000" kx="0" ky="0" algn="bl" rotWithShape="0" blurRad="127000" dist="12700" dir="54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68680" y="5404104"/>
            <a:ext cx="457200" cy="457200"/>
          </a:xfrm>
          <a:prstGeom prst="ellipse">
            <a:avLst/>
          </a:prstGeom>
          <a:solidFill>
            <a:srgbClr val="A8443C"/>
          </a:solidFill>
          <a:ln w="12700">
            <a:solidFill>
              <a:srgbClr val="A8443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68680" y="54041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463040" y="5257800"/>
            <a:ext cx="219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override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749040" y="5257800"/>
            <a:ext cx="3200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E5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typed value, flagged and reason-coded.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7040880" y="5257800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 only, cleared within days.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40080" y="63276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the method and the number changes — that is expected, and the contribution table always shows how the figure was produced.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to read a WBS code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it left to right for “where”. Read it right to left for “what”.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1481328" cy="713232"/>
          </a:xfrm>
          <a:prstGeom prst="roundRect">
            <a:avLst>
              <a:gd name="adj" fmla="val 10256"/>
            </a:avLst>
          </a:prstGeom>
          <a:solidFill>
            <a:srgbClr val="1B2A33"/>
          </a:solidFill>
          <a:ln w="12700">
            <a:solidFill>
              <a:srgbClr val="1B2A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874520"/>
            <a:ext cx="148132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P001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380744" y="2587752"/>
            <a:ext cx="0" cy="228600"/>
          </a:xfrm>
          <a:prstGeom prst="line">
            <a:avLst/>
          </a:prstGeom>
          <a:noFill/>
          <a:ln w="15875">
            <a:solidFill>
              <a:srgbClr val="D8DE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834640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48640" y="3108960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Tower A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212848" y="1874520"/>
            <a:ext cx="1481328" cy="713232"/>
          </a:xfrm>
          <a:prstGeom prst="roundRect">
            <a:avLst>
              <a:gd name="adj" fmla="val 10256"/>
            </a:avLst>
          </a:prstGeom>
          <a:solidFill>
            <a:srgbClr val="1B2A33"/>
          </a:solidFill>
          <a:ln w="12700">
            <a:solidFill>
              <a:srgbClr val="1B2A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12848" y="1874520"/>
            <a:ext cx="148132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PH2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2953512" y="2587752"/>
            <a:ext cx="0" cy="228600"/>
          </a:xfrm>
          <a:prstGeom prst="line">
            <a:avLst/>
          </a:prstGeom>
          <a:noFill/>
          <a:ln w="15875">
            <a:solidFill>
              <a:srgbClr val="D8DE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21408" y="2834640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2121408" y="3108960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Superstructure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785616" y="1874520"/>
            <a:ext cx="1481328" cy="713232"/>
          </a:xfrm>
          <a:prstGeom prst="roundRect">
            <a:avLst>
              <a:gd name="adj" fmla="val 10256"/>
            </a:avLst>
          </a:prstGeom>
          <a:solidFill>
            <a:srgbClr val="1B2A33"/>
          </a:solidFill>
          <a:ln w="12700">
            <a:solidFill>
              <a:srgbClr val="1B2A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85616" y="1874520"/>
            <a:ext cx="148132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B01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526280" y="2587752"/>
            <a:ext cx="0" cy="228600"/>
          </a:xfrm>
          <a:prstGeom prst="line">
            <a:avLst/>
          </a:prstGeom>
          <a:noFill/>
          <a:ln w="15875">
            <a:solidFill>
              <a:srgbClr val="D8DE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94176" y="2834640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694176" y="3108960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Tower A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358384" y="1874520"/>
            <a:ext cx="1481328" cy="713232"/>
          </a:xfrm>
          <a:prstGeom prst="roundRect">
            <a:avLst>
              <a:gd name="adj" fmla="val 10256"/>
            </a:avLst>
          </a:prstGeom>
          <a:solidFill>
            <a:srgbClr val="1B2A33"/>
          </a:solidFill>
          <a:ln w="12700">
            <a:solidFill>
              <a:srgbClr val="1B2A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58384" y="1874520"/>
            <a:ext cx="148132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L05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099048" y="2587752"/>
            <a:ext cx="0" cy="228600"/>
          </a:xfrm>
          <a:prstGeom prst="line">
            <a:avLst/>
          </a:prstGeom>
          <a:noFill/>
          <a:ln w="15875">
            <a:solidFill>
              <a:srgbClr val="D8DE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266944" y="2834640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266944" y="3108960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05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931152" y="1874520"/>
            <a:ext cx="1481328" cy="713232"/>
          </a:xfrm>
          <a:prstGeom prst="roundRect">
            <a:avLst>
              <a:gd name="adj" fmla="val 10256"/>
            </a:avLst>
          </a:prstGeom>
          <a:solidFill>
            <a:srgbClr val="1B2A33"/>
          </a:solidFill>
          <a:ln w="12700">
            <a:solidFill>
              <a:srgbClr val="1B2A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31152" y="1874520"/>
            <a:ext cx="148132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Z03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7671816" y="2587752"/>
            <a:ext cx="0" cy="228600"/>
          </a:xfrm>
          <a:prstGeom prst="line">
            <a:avLst/>
          </a:prstGeom>
          <a:noFill/>
          <a:ln w="15875">
            <a:solidFill>
              <a:srgbClr val="D8DE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39712" y="2834640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839712" y="3108960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 Wing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503920" y="1874520"/>
            <a:ext cx="1481328" cy="713232"/>
          </a:xfrm>
          <a:prstGeom prst="roundRect">
            <a:avLst>
              <a:gd name="adj" fmla="val 10256"/>
            </a:avLst>
          </a:prstGeom>
          <a:solidFill>
            <a:srgbClr val="1B2A33"/>
          </a:solidFill>
          <a:ln w="12700">
            <a:solidFill>
              <a:srgbClr val="1B2A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503920" y="1874520"/>
            <a:ext cx="148132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9244584" y="2587752"/>
            <a:ext cx="0" cy="228600"/>
          </a:xfrm>
          <a:prstGeom prst="line">
            <a:avLst/>
          </a:prstGeom>
          <a:noFill/>
          <a:ln w="15875">
            <a:solidFill>
              <a:srgbClr val="D8DE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412480" y="2834640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Discipline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8412480" y="3108960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10076688" y="1874520"/>
            <a:ext cx="1481328" cy="713232"/>
          </a:xfrm>
          <a:prstGeom prst="roundRect">
            <a:avLst>
              <a:gd name="adj" fmla="val 10256"/>
            </a:avLst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076688" y="1874520"/>
            <a:ext cx="148132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SLAB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10817352" y="2587752"/>
            <a:ext cx="0" cy="228600"/>
          </a:xfrm>
          <a:prstGeom prst="line">
            <a:avLst/>
          </a:prstGeom>
          <a:noFill/>
          <a:ln w="15875">
            <a:solidFill>
              <a:srgbClr val="D8DEE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985248" y="2834640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package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9985248" y="3108960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slab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40080" y="3749040"/>
            <a:ext cx="5257800" cy="2011680"/>
          </a:xfrm>
          <a:prstGeom prst="roundRect">
            <a:avLst>
              <a:gd name="adj" fmla="val 3636"/>
            </a:avLst>
          </a:prstGeom>
          <a:solidFill>
            <a:srgbClr val="F1F4F5"/>
          </a:solidFill>
          <a:ln w="9525">
            <a:solidFill>
              <a:srgbClr val="D8DEE1"/>
            </a:solidFill>
            <a:prstDash val="solid"/>
          </a:ln>
          <a:effectLst>
            <a:outerShdw sx="100000" sy="100000" kx="0" ky="0" algn="bl" rotWithShape="0" blurRad="127000" dist="12700" dir="5400000">
              <a:srgbClr val="000000">
                <a:alpha val="10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914400" y="391363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you meet it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914400" y="422452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E5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document number on the project carries the middle segments: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914400" y="45720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P001-STR-DWG-B01-L05-001-R02</a:t>
            </a:r>
            <a:endParaRPr lang="en-US" sz="1350" dirty="0"/>
          </a:p>
        </p:txBody>
      </p:sp>
      <p:sp>
        <p:nvSpPr>
          <p:cNvPr id="43" name="Text 41"/>
          <p:cNvSpPr/>
          <p:nvPr/>
        </p:nvSpPr>
        <p:spPr>
          <a:xfrm>
            <a:off x="914400" y="498348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is exactly why codes cannot be changed casually — and why an old number still resolves after an approved change.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6263640" y="3749040"/>
            <a:ext cx="5257800" cy="2011680"/>
          </a:xfrm>
          <a:prstGeom prst="roundRect">
            <a:avLst>
              <a:gd name="adj" fmla="val 3636"/>
            </a:avLst>
          </a:prstGeom>
          <a:solidFill>
            <a:srgbClr val="1B2A33"/>
          </a:solidFill>
          <a:ln w="9525">
            <a:solidFill>
              <a:srgbClr val="D8DEE1"/>
            </a:solidFill>
            <a:prstDash val="solid"/>
          </a:ln>
          <a:effectLst>
            <a:outerShdw sx="100000" sy="100000" kx="0" ky="0" algn="bl" rotWithShape="0" blurRad="127000" dist="12700" dir="5400000">
              <a:srgbClr val="000000">
                <a:alpha val="10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6537960" y="391363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tip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6537960" y="4279392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 5,000-node project, stop expanding the tree and start searching. Search is scoped to what you are allowed to see, and it returns results in under a third of a second.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6537960" y="530352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Competent = finds any node in under 20 seconds.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Idea 5 — The structure locks at baseline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the QS values the work against it every single month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2514600" cy="2606040"/>
          </a:xfrm>
          <a:prstGeom prst="roundRect">
            <a:avLst>
              <a:gd name="adj" fmla="val 2909"/>
            </a:avLst>
          </a:prstGeom>
          <a:solidFill>
            <a:srgbClr val="F1F4F5"/>
          </a:solidFill>
          <a:ln w="9525">
            <a:solidFill>
              <a:srgbClr val="D8DEE1"/>
            </a:solidFill>
            <a:prstDash val="solid"/>
          </a:ln>
          <a:effectLst>
            <a:outerShdw sx="100000" sy="100000" kx="0" ky="0" algn="bl" rotWithShape="0" blurRad="127000" dist="127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057400"/>
            <a:ext cx="502920" cy="50292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269748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freely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68680" y="3108960"/>
            <a:ext cx="2057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E5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Create, move, re-code, import, delete. Nothing is locked while the structure is being designed.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00400" y="3108960"/>
            <a:ext cx="182880" cy="0"/>
          </a:xfrm>
          <a:prstGeom prst="line">
            <a:avLst/>
          </a:prstGeom>
          <a:noFill/>
          <a:ln w="25400">
            <a:solidFill>
              <a:srgbClr val="E8A33D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429000" y="1828800"/>
            <a:ext cx="2514600" cy="2606040"/>
          </a:xfrm>
          <a:prstGeom prst="roundRect">
            <a:avLst>
              <a:gd name="adj" fmla="val 2909"/>
            </a:avLst>
          </a:prstGeom>
          <a:solidFill>
            <a:srgbClr val="F1F4F5"/>
          </a:solidFill>
          <a:ln w="9525">
            <a:solidFill>
              <a:srgbClr val="D8DEE1"/>
            </a:solidFill>
            <a:prstDash val="solid"/>
          </a:ln>
          <a:effectLst>
            <a:outerShdw sx="100000" sy="100000" kx="0" ky="0" algn="bl" rotWithShape="0" blurRad="127000" dist="12700" dir="54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0" y="2057400"/>
            <a:ext cx="502920" cy="50292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0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657600" y="269748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Four-party sign-off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3657600" y="3108960"/>
            <a:ext cx="2057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E5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Planner, QS, Document Controller and PM each confirm the structure serves their needs.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989320" y="3108960"/>
            <a:ext cx="182880" cy="0"/>
          </a:xfrm>
          <a:prstGeom prst="line">
            <a:avLst/>
          </a:prstGeom>
          <a:noFill/>
          <a:ln w="25400">
            <a:solidFill>
              <a:srgbClr val="E8A33D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217920" y="1828800"/>
            <a:ext cx="2514600" cy="2606040"/>
          </a:xfrm>
          <a:prstGeom prst="roundRect">
            <a:avLst>
              <a:gd name="adj" fmla="val 2909"/>
            </a:avLst>
          </a:prstGeom>
          <a:solidFill>
            <a:srgbClr val="F1F4F5"/>
          </a:solidFill>
          <a:ln w="9525">
            <a:solidFill>
              <a:srgbClr val="D8DEE1"/>
            </a:solidFill>
            <a:prstDash val="solid"/>
          </a:ln>
          <a:effectLst>
            <a:outerShdw sx="100000" sy="100000" kx="0" ky="0" algn="bl" rotWithShape="0" blurRad="127000" dist="127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46520" y="2057400"/>
            <a:ext cx="502920" cy="50292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46520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46520" y="269748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R0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6446520" y="3108960"/>
            <a:ext cx="2057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E5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frozen snapshot. Set before the first payment application at the latest.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778240" y="3108960"/>
            <a:ext cx="182880" cy="0"/>
          </a:xfrm>
          <a:prstGeom prst="line">
            <a:avLst/>
          </a:prstGeom>
          <a:noFill/>
          <a:ln w="25400">
            <a:solidFill>
              <a:srgbClr val="E8A33D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9006840" y="1828800"/>
            <a:ext cx="2514600" cy="2606040"/>
          </a:xfrm>
          <a:prstGeom prst="roundRect">
            <a:avLst>
              <a:gd name="adj" fmla="val 2909"/>
            </a:avLst>
          </a:prstGeom>
          <a:solidFill>
            <a:srgbClr val="1B2A33"/>
          </a:solidFill>
          <a:ln w="9525">
            <a:solidFill>
              <a:srgbClr val="D8DEE1"/>
            </a:solidFill>
            <a:prstDash val="solid"/>
          </a:ln>
          <a:effectLst>
            <a:outerShdw sx="100000" sy="100000" kx="0" ky="0" algn="bl" rotWithShape="0" blurRad="127000" dist="12700" dir="54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235440" y="2057400"/>
            <a:ext cx="502920" cy="50292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235440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235440" y="269748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control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9235440" y="3108960"/>
            <a:ext cx="2057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EC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here, moving or re-coding needs an approved change request — with a reason.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40080" y="4709160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FBF1E1"/>
          </a:solidFill>
          <a:ln w="9525">
            <a:solidFill>
              <a:srgbClr val="D8DEE1"/>
            </a:solidFill>
            <a:prstDash val="solid"/>
          </a:ln>
          <a:effectLst>
            <a:outerShdw sx="100000" sy="100000" kx="0" ky="0" algn="bl" rotWithShape="0" blurRad="127000" dist="12700" dir="5400000">
              <a:srgbClr val="000000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914400" y="4828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 this answers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914400" y="5120640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E5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“Prove the structure you valued this month's application against is the same structure you valued last month's against.” — the baseline comparison answers it in one export.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safeguards you will meet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one blocks something — and each one offers the legitimate route instead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447288" cy="3977640"/>
          </a:xfrm>
          <a:prstGeom prst="roundRect">
            <a:avLst>
              <a:gd name="adj" fmla="val 2122"/>
            </a:avLst>
          </a:prstGeom>
          <a:solidFill>
            <a:srgbClr val="F1F4F5"/>
          </a:solidFill>
          <a:ln w="9525">
            <a:solidFill>
              <a:srgbClr val="D8DEE1"/>
            </a:solidFill>
            <a:prstDash val="solid"/>
          </a:ln>
          <a:effectLst>
            <a:outerShdw sx="100000" sy="100000" kx="0" ky="0" algn="bl" rotWithShape="0" blurRad="127000" dist="127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2011680"/>
            <a:ext cx="502920" cy="502920"/>
          </a:xfrm>
          <a:prstGeom prst="ellipse">
            <a:avLst/>
          </a:prstGeom>
          <a:solidFill>
            <a:srgbClr val="1B2A33"/>
          </a:solidFill>
          <a:ln w="12700">
            <a:solidFill>
              <a:srgbClr val="1B2A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554480" y="202996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guard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96112" y="269748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6B7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896112" y="292608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E5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try to delete a location that has 34 drawings and 12 tasks attached.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96112" y="365760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6B7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SEE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896112" y="388620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E5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Blocked. The system offers Archive, or reassigning the records first.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96112" y="4709160"/>
            <a:ext cx="2926080" cy="868680"/>
          </a:xfrm>
          <a:prstGeom prst="roundRect">
            <a:avLst>
              <a:gd name="adj" fmla="val 8421"/>
            </a:avLst>
          </a:prstGeom>
          <a:solidFill>
            <a:srgbClr val="FBF1E1"/>
          </a:solidFill>
          <a:ln w="12700">
            <a:solidFill>
              <a:srgbClr val="F0DDB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51560" y="470916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A53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are evidence. Never delete records in order to free a location.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361688" y="1783080"/>
            <a:ext cx="3447288" cy="3977640"/>
          </a:xfrm>
          <a:prstGeom prst="roundRect">
            <a:avLst>
              <a:gd name="adj" fmla="val 2122"/>
            </a:avLst>
          </a:prstGeom>
          <a:solidFill>
            <a:srgbClr val="F1F4F5"/>
          </a:solidFill>
          <a:ln w="9525">
            <a:solidFill>
              <a:srgbClr val="D8DEE1"/>
            </a:solidFill>
            <a:prstDash val="solid"/>
          </a:ln>
          <a:effectLst>
            <a:outerShdw sx="100000" sy="100000" kx="0" ky="0" algn="bl" rotWithShape="0" blurRad="127000" dist="127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17720" y="2011680"/>
            <a:ext cx="502920" cy="502920"/>
          </a:xfrm>
          <a:prstGeom prst="ellipse">
            <a:avLst/>
          </a:prstGeom>
          <a:solidFill>
            <a:srgbClr val="1B2A33"/>
          </a:solidFill>
          <a:ln w="12700">
            <a:solidFill>
              <a:srgbClr val="1B2A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17720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276088" y="202996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lock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617720" y="269748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6B7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617720" y="292608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E5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try to move a zone after the structure has been baselined.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617720" y="365760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6B7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SEE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617720" y="388620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E5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Blocked. A “Raise change request” button appears, pre-filled.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617720" y="4709160"/>
            <a:ext cx="2926080" cy="868680"/>
          </a:xfrm>
          <a:prstGeom prst="roundRect">
            <a:avLst>
              <a:gd name="adj" fmla="val 8421"/>
            </a:avLst>
          </a:prstGeom>
          <a:solidFill>
            <a:srgbClr val="FBF1E1"/>
          </a:solidFill>
          <a:ln w="12700">
            <a:solidFill>
              <a:srgbClr val="F0DDB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73168" y="470916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A53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never “just a small change” once a valuation exists.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083296" y="1783080"/>
            <a:ext cx="3447288" cy="3977640"/>
          </a:xfrm>
          <a:prstGeom prst="roundRect">
            <a:avLst>
              <a:gd name="adj" fmla="val 2122"/>
            </a:avLst>
          </a:prstGeom>
          <a:solidFill>
            <a:srgbClr val="F1F4F5"/>
          </a:solidFill>
          <a:ln w="9525">
            <a:solidFill>
              <a:srgbClr val="D8DEE1"/>
            </a:solidFill>
            <a:prstDash val="solid"/>
          </a:ln>
          <a:effectLst>
            <a:outerShdw sx="100000" sy="100000" kx="0" ky="0" algn="bl" rotWithShape="0" blurRad="127000" dist="12700" dir="54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339328" y="2011680"/>
            <a:ext cx="502920" cy="502920"/>
          </a:xfrm>
          <a:prstGeom prst="ellipse">
            <a:avLst/>
          </a:prstGeom>
          <a:solidFill>
            <a:srgbClr val="1B2A33"/>
          </a:solidFill>
          <a:ln w="12700">
            <a:solidFill>
              <a:srgbClr val="1B2A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339328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997696" y="202996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Override flag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339328" y="269748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6B7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8339328" y="292608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E5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progress figure is typed rather than derived.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339328" y="365760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6B7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SEE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8339328" y="388620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E5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Allowed for PM/Director only — flagged everywhere until cleared.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8339328" y="4709160"/>
            <a:ext cx="2926080" cy="868680"/>
          </a:xfrm>
          <a:prstGeom prst="roundRect">
            <a:avLst>
              <a:gd name="adj" fmla="val 8421"/>
            </a:avLst>
          </a:prstGeom>
          <a:solidFill>
            <a:srgbClr val="FBF1E1"/>
          </a:solidFill>
          <a:ln w="12700">
            <a:solidFill>
              <a:srgbClr val="F0DDB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494776" y="470916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A53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the underlying data within five working days.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approved route: a change request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steps, one paper trail, and the change is applied by the system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881360" cy="731520"/>
          </a:xfrm>
          <a:prstGeom prst="roundRect">
            <a:avLst>
              <a:gd name="adj" fmla="val 10000"/>
            </a:avLst>
          </a:prstGeom>
          <a:solidFill>
            <a:srgbClr val="F1F4F5"/>
          </a:solidFill>
          <a:ln w="9525">
            <a:solidFill>
              <a:srgbClr val="D8DEE1"/>
            </a:solidFill>
            <a:prstDash val="solid"/>
          </a:ln>
          <a:effectLst>
            <a:outerShdw sx="100000" sy="100000" kx="0" ky="0" algn="bl" rotWithShape="0" blurRad="127000" dist="127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920240"/>
            <a:ext cx="457200" cy="45720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481328" y="178308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3200400" y="178308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E5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type, affected nodes, target, justification, and the contractual reference (instruction or variation).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2633472"/>
            <a:ext cx="10881360" cy="731520"/>
          </a:xfrm>
          <a:prstGeom prst="roundRect">
            <a:avLst>
              <a:gd name="adj" fmla="val 10000"/>
            </a:avLst>
          </a:prstGeom>
          <a:solidFill>
            <a:srgbClr val="F1F4F5"/>
          </a:solidFill>
          <a:ln w="9525">
            <a:solidFill>
              <a:srgbClr val="D8DEE1"/>
            </a:solidFill>
            <a:prstDash val="solid"/>
          </a:ln>
          <a:effectLst>
            <a:outerShdw sx="100000" sy="100000" kx="0" ky="0" algn="bl" rotWithShape="0" blurRad="127000" dist="12700" dir="54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68680" y="2770632"/>
            <a:ext cx="457200" cy="45720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27706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481328" y="2633472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Preview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3200400" y="2633472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E5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impact: how many locations, how many attached records, which codes change.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3483864"/>
            <a:ext cx="10881360" cy="731520"/>
          </a:xfrm>
          <a:prstGeom prst="roundRect">
            <a:avLst>
              <a:gd name="adj" fmla="val 10000"/>
            </a:avLst>
          </a:prstGeom>
          <a:solidFill>
            <a:srgbClr val="F1F4F5"/>
          </a:solidFill>
          <a:ln w="9525">
            <a:solidFill>
              <a:srgbClr val="D8DEE1"/>
            </a:solidFill>
            <a:prstDash val="solid"/>
          </a:ln>
          <a:effectLst>
            <a:outerShdw sx="100000" sy="100000" kx="0" ky="0" algn="bl" rotWithShape="0" blurRad="127000" dist="127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68680" y="3621024"/>
            <a:ext cx="457200" cy="45720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36210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481328" y="3483864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3200400" y="3483864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E5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Goes to the Project Manager. If the PM raised it, it goes to the Project Director.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4334256"/>
            <a:ext cx="10881360" cy="731520"/>
          </a:xfrm>
          <a:prstGeom prst="roundRect">
            <a:avLst>
              <a:gd name="adj" fmla="val 10000"/>
            </a:avLst>
          </a:prstGeom>
          <a:solidFill>
            <a:srgbClr val="F1F4F5"/>
          </a:solidFill>
          <a:ln w="9525">
            <a:solidFill>
              <a:srgbClr val="D8DEE1"/>
            </a:solidFill>
            <a:prstDash val="solid"/>
          </a:ln>
          <a:effectLst>
            <a:outerShdw sx="100000" sy="100000" kx="0" ky="0" algn="bl" rotWithShape="0" blurRad="127000" dist="127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68680" y="4471416"/>
            <a:ext cx="457200" cy="45720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8680" y="44714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481328" y="4334256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3200400" y="4334256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E5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with comment, or reject with a mandatory comment saying what would make it acceptable.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40080" y="5184648"/>
            <a:ext cx="10881360" cy="731520"/>
          </a:xfrm>
          <a:prstGeom prst="roundRect">
            <a:avLst>
              <a:gd name="adj" fmla="val 10000"/>
            </a:avLst>
          </a:prstGeom>
          <a:solidFill>
            <a:srgbClr val="1B2A33"/>
          </a:solidFill>
          <a:ln w="9525">
            <a:solidFill>
              <a:srgbClr val="D8DEE1"/>
            </a:solidFill>
            <a:prstDash val="solid"/>
          </a:ln>
          <a:effectLst>
            <a:outerShdw sx="100000" sy="100000" kx="0" ky="0" algn="bl" rotWithShape="0" blurRad="127000" dist="12700" dir="54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68680" y="5321808"/>
            <a:ext cx="457200" cy="45720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68680" y="5321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481328" y="5184648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&amp; verify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3200400" y="5184648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EC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applies the change and stamps the reference into the audit record. You then verify.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640080" y="619963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84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rules that never bend:  the person who raises a request cannot approve it  ·  no decision within 48 hours escalates automatically to the Project Director.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Always read the impact preview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appears before every move, delete, cascade, cancel, and import commit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6400800" cy="3977640"/>
          </a:xfrm>
          <a:prstGeom prst="roundRect">
            <a:avLst>
              <a:gd name="adj" fmla="val 1839"/>
            </a:avLst>
          </a:prstGeom>
          <a:solidFill>
            <a:srgbClr val="FFFFFF"/>
          </a:solidFill>
          <a:ln w="9525">
            <a:solidFill>
              <a:srgbClr val="D8DEE1"/>
            </a:solidFill>
            <a:prstDash val="solid"/>
          </a:ln>
          <a:effectLst>
            <a:outerShdw sx="100000" sy="100000" kx="0" ky="0" algn="bl" rotWithShape="0" blurRad="127000" dist="127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96596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“Zone 03 (East Wing)” to “Level 06”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914400" y="2395728"/>
            <a:ext cx="5852160" cy="0"/>
          </a:xfrm>
          <a:prstGeom prst="line">
            <a:avLst/>
          </a:prstGeom>
          <a:noFill/>
          <a:ln w="12700">
            <a:solidFill>
              <a:srgbClr val="D8DE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542032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B7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affects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2651760" y="2542032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E5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locations will move  ·  46 attached records follow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651760" y="2999232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E5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 drawings  ·  12 tasks  ·  3 responsibility assignments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914400" y="3456432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B7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Codes will change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2651760" y="3456432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…-B01-L05-Z03-STR-SLAB  →  …-B01-L06-Z03-STR-SLAB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651760" y="3913632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E5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 codes remain searchable for document retrieval.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914400" y="4370832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B7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Roll-up recalculates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2651760" y="4370832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E5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05 chain and Level 06 chain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914400" y="4828032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B7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2651760" y="4828032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E5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PM, Discipline Manager, Document Controller, area engineer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160520" y="5257800"/>
            <a:ext cx="1234440" cy="384048"/>
          </a:xfrm>
          <a:prstGeom prst="roundRect">
            <a:avLst>
              <a:gd name="adj" fmla="val 14286"/>
            </a:avLst>
          </a:prstGeom>
          <a:solidFill>
            <a:srgbClr val="F1F4F5"/>
          </a:solidFill>
          <a:ln w="12700">
            <a:solidFill>
              <a:srgbClr val="D8DE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60520" y="525780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E5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532120" y="5257800"/>
            <a:ext cx="1280160" cy="384048"/>
          </a:xfrm>
          <a:prstGeom prst="roundRect">
            <a:avLst>
              <a:gd name="adj" fmla="val 14286"/>
            </a:avLst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532120" y="525780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7406640" y="1783080"/>
            <a:ext cx="4114800" cy="3977640"/>
          </a:xfrm>
          <a:prstGeom prst="roundRect">
            <a:avLst>
              <a:gd name="adj" fmla="val 1839"/>
            </a:avLst>
          </a:prstGeom>
          <a:solidFill>
            <a:srgbClr val="1B2A33"/>
          </a:solidFill>
          <a:ln w="9525">
            <a:solidFill>
              <a:srgbClr val="D8DEE1"/>
            </a:solidFill>
            <a:prstDash val="solid"/>
          </a:ln>
          <a:effectLst>
            <a:outerShdw sx="100000" sy="100000" kx="0" ky="0" algn="bl" rotWithShape="0" blurRad="127000" dist="12700" dir="54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680960" y="199339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earns its place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680960" y="2468880"/>
            <a:ext cx="35661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CB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runs until you confirm.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CB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counts are live, not estimated.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CB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count surprises you, that surprise is the point — cancel and investigate.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B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the move, verify: three codes, the record count, and one old drawing number.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Node statuses at a glance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each one means for the work — and for the numbers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349240" cy="658368"/>
          </a:xfrm>
          <a:prstGeom prst="roundRect">
            <a:avLst>
              <a:gd name="adj" fmla="val 11111"/>
            </a:avLst>
          </a:prstGeom>
          <a:solidFill>
            <a:srgbClr val="F1F4F5"/>
          </a:solidFill>
          <a:ln w="9525">
            <a:solidFill>
              <a:srgbClr val="D8DEE1"/>
            </a:solidFill>
            <a:prstDash val="solid"/>
          </a:ln>
          <a:effectLst>
            <a:outerShdw sx="100000" sy="100000" kx="0" ky="0" algn="bl" rotWithShape="0" blurRad="127000" dist="127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1929384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6B7B84"/>
          </a:solidFill>
          <a:ln w="12700">
            <a:solidFill>
              <a:srgbClr val="6B7B8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1929384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2377440" y="1783080"/>
            <a:ext cx="3520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E5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Being built. Not yet available to other modules.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17920" y="1783080"/>
            <a:ext cx="5349240" cy="658368"/>
          </a:xfrm>
          <a:prstGeom prst="roundRect">
            <a:avLst>
              <a:gd name="adj" fmla="val 11111"/>
            </a:avLst>
          </a:prstGeom>
          <a:solidFill>
            <a:srgbClr val="F1F4F5"/>
          </a:solidFill>
          <a:ln w="9525">
            <a:solidFill>
              <a:srgbClr val="D8DEE1"/>
            </a:solidFill>
            <a:prstDash val="solid"/>
          </a:ln>
          <a:effectLst>
            <a:outerShdw sx="100000" sy="100000" kx="0" ky="0" algn="bl" rotWithShape="0" blurRad="127000" dist="12700" dir="54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19088" y="1929384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4E7A5C"/>
          </a:solidFill>
          <a:ln w="12700">
            <a:solidFill>
              <a:srgbClr val="4E7A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19088" y="1929384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955280" y="1783080"/>
            <a:ext cx="3520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E5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Live. Tasks, documents and cost can be attached.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2569464"/>
            <a:ext cx="5349240" cy="658368"/>
          </a:xfrm>
          <a:prstGeom prst="roundRect">
            <a:avLst>
              <a:gd name="adj" fmla="val 11111"/>
            </a:avLst>
          </a:prstGeom>
          <a:solidFill>
            <a:srgbClr val="F1F4F5"/>
          </a:solidFill>
          <a:ln w="9525">
            <a:solidFill>
              <a:srgbClr val="D8DEE1"/>
            </a:solidFill>
            <a:prstDash val="solid"/>
          </a:ln>
          <a:effectLst>
            <a:outerShdw sx="100000" sy="100000" kx="0" ky="0" algn="bl" rotWithShape="0" blurRad="127000" dist="12700" dir="54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41248" y="2715768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1248" y="271576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hold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2377440" y="2569464"/>
            <a:ext cx="3520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E5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Suspended — but still in scope, so still counted.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17920" y="2569464"/>
            <a:ext cx="5349240" cy="658368"/>
          </a:xfrm>
          <a:prstGeom prst="roundRect">
            <a:avLst>
              <a:gd name="adj" fmla="val 11111"/>
            </a:avLst>
          </a:prstGeom>
          <a:solidFill>
            <a:srgbClr val="F1F4F5"/>
          </a:solidFill>
          <a:ln w="9525">
            <a:solidFill>
              <a:srgbClr val="D8DEE1"/>
            </a:solidFill>
            <a:prstDash val="solid"/>
          </a:ln>
          <a:effectLst>
            <a:outerShdw sx="100000" sy="100000" kx="0" ky="0" algn="bl" rotWithShape="0" blurRad="127000" dist="127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19088" y="2715768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3E5C66"/>
          </a:solidFill>
          <a:ln w="12700">
            <a:solidFill>
              <a:srgbClr val="3E5C6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19088" y="271576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7955280" y="2569464"/>
            <a:ext cx="3520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E5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Physically finished, awaiting closure checks.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3355848"/>
            <a:ext cx="5349240" cy="658368"/>
          </a:xfrm>
          <a:prstGeom prst="roundRect">
            <a:avLst>
              <a:gd name="adj" fmla="val 11111"/>
            </a:avLst>
          </a:prstGeom>
          <a:solidFill>
            <a:srgbClr val="F1F4F5"/>
          </a:solidFill>
          <a:ln w="9525">
            <a:solidFill>
              <a:srgbClr val="D8DEE1"/>
            </a:solidFill>
            <a:prstDash val="solid"/>
          </a:ln>
          <a:effectLst>
            <a:outerShdw sx="100000" sy="100000" kx="0" ky="0" algn="bl" rotWithShape="0" blurRad="127000" dist="12700" dir="54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41248" y="3502152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1B2A33"/>
          </a:solidFill>
          <a:ln w="12700">
            <a:solidFill>
              <a:srgbClr val="1B2A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1248" y="350215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2377440" y="3355848"/>
            <a:ext cx="3520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E5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Gates passed, locked. No new records.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217920" y="3355848"/>
            <a:ext cx="5349240" cy="658368"/>
          </a:xfrm>
          <a:prstGeom prst="roundRect">
            <a:avLst>
              <a:gd name="adj" fmla="val 11111"/>
            </a:avLst>
          </a:prstGeom>
          <a:solidFill>
            <a:srgbClr val="F1F4F5"/>
          </a:solidFill>
          <a:ln w="9525">
            <a:solidFill>
              <a:srgbClr val="D8DEE1"/>
            </a:solidFill>
            <a:prstDash val="solid"/>
          </a:ln>
          <a:effectLst>
            <a:outerShdw sx="100000" sy="100000" kx="0" ky="0" algn="bl" rotWithShape="0" blurRad="127000" dist="12700" dir="54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419088" y="3502152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A8443C"/>
          </a:solidFill>
          <a:ln w="12700">
            <a:solidFill>
              <a:srgbClr val="A8443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19088" y="350215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Cancelled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7955280" y="3355848"/>
            <a:ext cx="3520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E5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Descoped by variation. Removed from the calculation.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40080" y="4142232"/>
            <a:ext cx="5349240" cy="658368"/>
          </a:xfrm>
          <a:prstGeom prst="roundRect">
            <a:avLst>
              <a:gd name="adj" fmla="val 11111"/>
            </a:avLst>
          </a:prstGeom>
          <a:solidFill>
            <a:srgbClr val="F1F4F5"/>
          </a:solidFill>
          <a:ln w="9525">
            <a:solidFill>
              <a:srgbClr val="D8DEE1"/>
            </a:solidFill>
            <a:prstDash val="solid"/>
          </a:ln>
          <a:effectLst>
            <a:outerShdw sx="100000" sy="100000" kx="0" ky="0" algn="bl" rotWithShape="0" blurRad="127000" dist="12700" dir="54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41248" y="4288536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6B7B84"/>
          </a:solidFill>
          <a:ln w="12700">
            <a:solidFill>
              <a:srgbClr val="6B7B8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41248" y="4288536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Archived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2377440" y="4142232"/>
            <a:ext cx="3520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E5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History. Out of active views, fully reportable.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40080" y="502920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FBF1E1"/>
          </a:solidFill>
          <a:ln w="9525">
            <a:solidFill>
              <a:srgbClr val="D8DEE1"/>
            </a:solidFill>
            <a:prstDash val="solid"/>
          </a:ln>
          <a:effectLst>
            <a:outerShdw sx="100000" sy="100000" kx="0" ky="0" algn="bl" rotWithShape="0" blurRad="127000" dist="12700" dir="5400000">
              <a:srgbClr val="000000">
                <a:alpha val="1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914400" y="502920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53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pair people get wrong:  On hold stays IN the calculation — suspended work is still scope.  Cancelled comes OUT entirely — that scope no longer exists.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training tracks, one core session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concepts: 60 minutes, all attendees. Then your role track.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881360" cy="621792"/>
          </a:xfrm>
          <a:prstGeom prst="roundRect">
            <a:avLst>
              <a:gd name="adj" fmla="val 11765"/>
            </a:avLst>
          </a:prstGeom>
          <a:solidFill>
            <a:srgbClr val="F1F4F5"/>
          </a:solidFill>
          <a:ln w="9525">
            <a:solidFill>
              <a:srgbClr val="D8DEE1"/>
            </a:solidFill>
            <a:prstDash val="solid"/>
          </a:ln>
          <a:effectLst>
            <a:outerShdw sx="100000" sy="100000" kx="0" ky="0" algn="bl" rotWithShape="0" blurRad="127000" dist="127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783080"/>
            <a:ext cx="3200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Manager / Director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206240" y="1920240"/>
            <a:ext cx="777240" cy="347472"/>
          </a:xfrm>
          <a:prstGeom prst="roundRect">
            <a:avLst>
              <a:gd name="adj" fmla="val 47368"/>
            </a:avLst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06240" y="1920240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h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212080" y="1783080"/>
            <a:ext cx="6035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E5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Governance, baselines, approving change, override discipline, closure gates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2496312"/>
            <a:ext cx="1088136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D8DEE1"/>
            </a:solidFill>
            <a:prstDash val="solid"/>
          </a:ln>
          <a:effectLst>
            <a:outerShdw sx="100000" sy="100000" kx="0" ky="0" algn="bl" rotWithShape="0" blurRad="127000" dist="12700" dir="54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14400" y="2496312"/>
            <a:ext cx="3200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Planner / Scheduler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206240" y="2633472"/>
            <a:ext cx="777240" cy="347472"/>
          </a:xfrm>
          <a:prstGeom prst="roundRect">
            <a:avLst>
              <a:gd name="adj" fmla="val 47368"/>
            </a:avLst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06240" y="2633472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h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212080" y="2496312"/>
            <a:ext cx="6035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E5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Breakdown design, coding, templates, import, duplication, move and verification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3209544"/>
            <a:ext cx="10881360" cy="621792"/>
          </a:xfrm>
          <a:prstGeom prst="roundRect">
            <a:avLst>
              <a:gd name="adj" fmla="val 11765"/>
            </a:avLst>
          </a:prstGeom>
          <a:solidFill>
            <a:srgbClr val="F1F4F5"/>
          </a:solidFill>
          <a:ln w="9525">
            <a:solidFill>
              <a:srgbClr val="D8DEE1"/>
            </a:solidFill>
            <a:prstDash val="solid"/>
          </a:ln>
          <a:effectLst>
            <a:outerShdw sx="100000" sy="100000" kx="0" ky="0" algn="bl" rotWithShape="0" blurRad="127000" dist="127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14400" y="3209544"/>
            <a:ext cx="3200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QS / Cost Engineer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206240" y="3346704"/>
            <a:ext cx="777240" cy="347472"/>
          </a:xfrm>
          <a:prstGeom prst="roundRect">
            <a:avLst>
              <a:gd name="adj" fmla="val 47368"/>
            </a:avLst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06240" y="3346704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h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212080" y="3209544"/>
            <a:ext cx="6035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E5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containers, all five roll-up methods, baseline diff, monthly verification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3922776"/>
            <a:ext cx="1088136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D8DEE1"/>
            </a:solidFill>
            <a:prstDash val="solid"/>
          </a:ln>
          <a:effectLst>
            <a:outerShdw sx="100000" sy="100000" kx="0" ky="0" algn="bl" rotWithShape="0" blurRad="127000" dist="12700" dir="54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914400" y="3922776"/>
            <a:ext cx="3200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Controller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206240" y="4059936"/>
            <a:ext cx="777240" cy="347472"/>
          </a:xfrm>
          <a:prstGeom prst="roundRect">
            <a:avLst>
              <a:gd name="adj" fmla="val 47368"/>
            </a:avLst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06240" y="4059936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h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212080" y="3922776"/>
            <a:ext cx="6035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E5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segments, numbering integration, immutability, historical resolution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0080" y="4636008"/>
            <a:ext cx="10881360" cy="621792"/>
          </a:xfrm>
          <a:prstGeom prst="roundRect">
            <a:avLst>
              <a:gd name="adj" fmla="val 11765"/>
            </a:avLst>
          </a:prstGeom>
          <a:solidFill>
            <a:srgbClr val="F1F4F5"/>
          </a:solidFill>
          <a:ln w="9525">
            <a:solidFill>
              <a:srgbClr val="D8DEE1"/>
            </a:solidFill>
            <a:prstDash val="solid"/>
          </a:ln>
          <a:effectLst>
            <a:outerShdw sx="100000" sy="100000" kx="0" ky="0" algn="bl" rotWithShape="0" blurRad="127000" dist="12700" dir="540000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914400" y="4636008"/>
            <a:ext cx="3200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Engineer / Supervisor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206240" y="4773168"/>
            <a:ext cx="777240" cy="347472"/>
          </a:xfrm>
          <a:prstGeom prst="roundRect">
            <a:avLst>
              <a:gd name="adj" fmla="val 47368"/>
            </a:avLst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206240" y="4773168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 h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212080" y="4636008"/>
            <a:ext cx="6035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E5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Navigation, reading codes, reporting by location, mobile and offline use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40080" y="5349240"/>
            <a:ext cx="1088136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D8DEE1"/>
            </a:solidFill>
            <a:prstDash val="solid"/>
          </a:ln>
          <a:effectLst>
            <a:outerShdw sx="100000" sy="100000" kx="0" ky="0" algn="bl" rotWithShape="0" blurRad="127000" dist="12700" dir="5400000">
              <a:srgbClr val="000000">
                <a:alpha val="1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914400" y="5349240"/>
            <a:ext cx="3200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Admin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206240" y="5486400"/>
            <a:ext cx="777240" cy="347472"/>
          </a:xfrm>
          <a:prstGeom prst="roundRect">
            <a:avLst>
              <a:gd name="adj" fmla="val 47368"/>
            </a:avLst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206240" y="5486400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h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5212080" y="5349240"/>
            <a:ext cx="6035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E5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types, structure rules, templates, integrity report, access scoping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40080" y="63276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Delivery: classroom for core concepts · hands-on in the “Tower A Training” sandbox · supervised live use for the first two weeks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Practise in a sandbox first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Fifteen exercises on the “Tower A Training” project — six shown here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447288" cy="1783080"/>
          </a:xfrm>
          <a:prstGeom prst="roundRect">
            <a:avLst>
              <a:gd name="adj" fmla="val 4103"/>
            </a:avLst>
          </a:prstGeom>
          <a:solidFill>
            <a:srgbClr val="F1F4F5"/>
          </a:solidFill>
          <a:ln w="9525">
            <a:solidFill>
              <a:srgbClr val="D8DEE1"/>
            </a:solidFill>
            <a:prstDash val="solid"/>
          </a:ln>
          <a:effectLst>
            <a:outerShdw sx="100000" sy="100000" kx="0" ky="0" algn="bl" rotWithShape="0" blurRad="127000" dist="127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2057400"/>
            <a:ext cx="457200" cy="45720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508760" y="207568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it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96112" y="265176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E5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tower template and detail Level 05 with zones, disciplines and work packages.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61688" y="1828800"/>
            <a:ext cx="3447288" cy="1783080"/>
          </a:xfrm>
          <a:prstGeom prst="roundRect">
            <a:avLst>
              <a:gd name="adj" fmla="val 4103"/>
            </a:avLst>
          </a:prstGeom>
          <a:solidFill>
            <a:srgbClr val="F1F4F5"/>
          </a:solidFill>
          <a:ln w="9525">
            <a:solidFill>
              <a:srgbClr val="D8DEE1"/>
            </a:solidFill>
            <a:prstDash val="solid"/>
          </a:ln>
          <a:effectLst>
            <a:outerShdw sx="100000" sy="100000" kx="0" ky="0" algn="bl" rotWithShape="0" blurRad="127000" dist="12700" dir="54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17720" y="2057400"/>
            <a:ext cx="457200" cy="45720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1772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230368" y="207568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it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617720" y="265176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E5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40 rooms from a file — then load a deliberately corrupted one and explain both errors.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083296" y="1828800"/>
            <a:ext cx="3447288" cy="1783080"/>
          </a:xfrm>
          <a:prstGeom prst="roundRect">
            <a:avLst>
              <a:gd name="adj" fmla="val 4103"/>
            </a:avLst>
          </a:prstGeom>
          <a:solidFill>
            <a:srgbClr val="F1F4F5"/>
          </a:solidFill>
          <a:ln w="9525">
            <a:solidFill>
              <a:srgbClr val="D8DEE1"/>
            </a:solidFill>
            <a:prstDash val="solid"/>
          </a:ln>
          <a:effectLst>
            <a:outerShdw sx="100000" sy="100000" kx="0" ky="0" algn="bl" rotWithShape="0" blurRad="127000" dist="127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39328" y="2057400"/>
            <a:ext cx="457200" cy="45720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39328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951976" y="207568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it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339328" y="265176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E5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Level 05 to Levels 06–10 and confirm the codes generated correctly.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3886200"/>
            <a:ext cx="3447288" cy="1783080"/>
          </a:xfrm>
          <a:prstGeom prst="roundRect">
            <a:avLst>
              <a:gd name="adj" fmla="val 4103"/>
            </a:avLst>
          </a:prstGeom>
          <a:solidFill>
            <a:srgbClr val="F1F4F5"/>
          </a:solidFill>
          <a:ln w="9525">
            <a:solidFill>
              <a:srgbClr val="D8DEE1"/>
            </a:solidFill>
            <a:prstDash val="solid"/>
          </a:ln>
          <a:effectLst>
            <a:outerShdw sx="100000" sy="100000" kx="0" ky="0" algn="bl" rotWithShape="0" blurRad="127000" dist="127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96112" y="4114800"/>
            <a:ext cx="457200" cy="45720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96112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508760" y="413308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it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96112" y="470916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E5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out Zone 03 on paper as cost-weighted, then check the system agrees at 66%.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361688" y="3886200"/>
            <a:ext cx="3447288" cy="1783080"/>
          </a:xfrm>
          <a:prstGeom prst="roundRect">
            <a:avLst>
              <a:gd name="adj" fmla="val 4103"/>
            </a:avLst>
          </a:prstGeom>
          <a:solidFill>
            <a:srgbClr val="F1F4F5"/>
          </a:solidFill>
          <a:ln w="9525">
            <a:solidFill>
              <a:srgbClr val="D8DEE1"/>
            </a:solidFill>
            <a:prstDash val="solid"/>
          </a:ln>
          <a:effectLst>
            <a:outerShdw sx="100000" sy="100000" kx="0" ky="0" algn="bl" rotWithShape="0" blurRad="127000" dist="12700" dir="54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17720" y="4114800"/>
            <a:ext cx="457200" cy="45720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17720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230368" y="413308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blocked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617720" y="470916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E5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to delete a location with records attached, and choose the right alternative.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083296" y="3886200"/>
            <a:ext cx="3447288" cy="1783080"/>
          </a:xfrm>
          <a:prstGeom prst="roundRect">
            <a:avLst>
              <a:gd name="adj" fmla="val 4103"/>
            </a:avLst>
          </a:prstGeom>
          <a:solidFill>
            <a:srgbClr val="F1F4F5"/>
          </a:solidFill>
          <a:ln w="9525">
            <a:solidFill>
              <a:srgbClr val="D8DEE1"/>
            </a:solidFill>
            <a:prstDash val="solid"/>
          </a:ln>
          <a:effectLst>
            <a:outerShdw sx="100000" sy="100000" kx="0" ky="0" algn="bl" rotWithShape="0" blurRad="127000" dist="12700" dir="54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339328" y="4114800"/>
            <a:ext cx="457200" cy="45720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339328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951976" y="413308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it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339328" y="470916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E5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 baseline, get a move blocked, raise a change request, approve it, verify the result.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40080" y="63276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Assessment: a 20-question quiz (pass mark 16) plus a practical rubric covering navigation, code reading, roll-up understanding and change control.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mistakes that cost the most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one of these has happened on a real project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349240" cy="1234440"/>
          </a:xfrm>
          <a:prstGeom prst="roundRect">
            <a:avLst>
              <a:gd name="adj" fmla="val 5926"/>
            </a:avLst>
          </a:prstGeom>
          <a:solidFill>
            <a:srgbClr val="F1F4F5"/>
          </a:solidFill>
          <a:ln w="9525">
            <a:solidFill>
              <a:srgbClr val="D8DEE1"/>
            </a:solidFill>
            <a:prstDash val="solid"/>
          </a:ln>
          <a:effectLst>
            <a:outerShdw sx="100000" sy="100000" kx="0" ky="0" algn="bl" rotWithShape="0" blurRad="127000" dist="127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901952"/>
            <a:ext cx="457200" cy="457200"/>
          </a:xfrm>
          <a:prstGeom prst="ellipse">
            <a:avLst/>
          </a:prstGeom>
          <a:solidFill>
            <a:srgbClr val="A8443C"/>
          </a:solidFill>
          <a:ln w="12700">
            <a:solidFill>
              <a:srgbClr val="A844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9019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481328" y="1883664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the tree for one department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481328" y="2395728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E5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structure workshop; four parties sign off before baseline.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17920" y="1737360"/>
            <a:ext cx="5349240" cy="1234440"/>
          </a:xfrm>
          <a:prstGeom prst="roundRect">
            <a:avLst>
              <a:gd name="adj" fmla="val 5926"/>
            </a:avLst>
          </a:prstGeom>
          <a:solidFill>
            <a:srgbClr val="F1F4F5"/>
          </a:solidFill>
          <a:ln w="9525">
            <a:solidFill>
              <a:srgbClr val="D8DEE1"/>
            </a:solidFill>
            <a:prstDash val="solid"/>
          </a:ln>
          <a:effectLst>
            <a:outerShdw sx="100000" sy="100000" kx="0" ky="0" algn="bl" rotWithShape="0" blurRad="127000" dist="12700" dir="54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46520" y="1901952"/>
            <a:ext cx="457200" cy="457200"/>
          </a:xfrm>
          <a:prstGeom prst="ellipse">
            <a:avLst/>
          </a:prstGeom>
          <a:solidFill>
            <a:srgbClr val="A8443C"/>
          </a:solidFill>
          <a:ln w="12700">
            <a:solidFill>
              <a:srgbClr val="A844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46520" y="19019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059168" y="1883664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packages too coarse to measure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059168" y="2395728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E5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the QS: can you measure this monthly? If not, split it.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" y="3127248"/>
            <a:ext cx="5349240" cy="1234440"/>
          </a:xfrm>
          <a:prstGeom prst="roundRect">
            <a:avLst>
              <a:gd name="adj" fmla="val 5926"/>
            </a:avLst>
          </a:prstGeom>
          <a:solidFill>
            <a:srgbClr val="F1F4F5"/>
          </a:solidFill>
          <a:ln w="9525">
            <a:solidFill>
              <a:srgbClr val="D8DEE1"/>
            </a:solidFill>
            <a:prstDash val="solid"/>
          </a:ln>
          <a:effectLst>
            <a:outerShdw sx="100000" sy="100000" kx="0" ky="0" algn="bl" rotWithShape="0" blurRad="127000" dist="127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68680" y="3291840"/>
            <a:ext cx="457200" cy="457200"/>
          </a:xfrm>
          <a:prstGeom prst="ellipse">
            <a:avLst/>
          </a:prstGeom>
          <a:solidFill>
            <a:srgbClr val="A8443C"/>
          </a:solidFill>
          <a:ln w="12700">
            <a:solidFill>
              <a:srgbClr val="A8443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3291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481328" y="3273552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Deleting instead of archiving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481328" y="3785616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E5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are evidence. Archive keeps them locatable.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17920" y="3127248"/>
            <a:ext cx="5349240" cy="1234440"/>
          </a:xfrm>
          <a:prstGeom prst="roundRect">
            <a:avLst>
              <a:gd name="adj" fmla="val 5926"/>
            </a:avLst>
          </a:prstGeom>
          <a:solidFill>
            <a:srgbClr val="F1F4F5"/>
          </a:solidFill>
          <a:ln w="9525">
            <a:solidFill>
              <a:srgbClr val="D8DEE1"/>
            </a:solidFill>
            <a:prstDash val="solid"/>
          </a:ln>
          <a:effectLst>
            <a:outerShdw sx="100000" sy="100000" kx="0" ky="0" algn="bl" rotWithShape="0" blurRad="127000" dist="127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46520" y="3291840"/>
            <a:ext cx="457200" cy="457200"/>
          </a:xfrm>
          <a:prstGeom prst="ellipse">
            <a:avLst/>
          </a:prstGeom>
          <a:solidFill>
            <a:srgbClr val="A8443C"/>
          </a:solidFill>
          <a:ln w="12700">
            <a:solidFill>
              <a:srgbClr val="A8443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46520" y="3291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059168" y="3273552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Overriding instead of fixing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059168" y="3785616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E5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the work-package data; clear the override within five days.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0080" y="4517136"/>
            <a:ext cx="5349240" cy="1234440"/>
          </a:xfrm>
          <a:prstGeom prst="roundRect">
            <a:avLst>
              <a:gd name="adj" fmla="val 5926"/>
            </a:avLst>
          </a:prstGeom>
          <a:solidFill>
            <a:srgbClr val="F1F4F5"/>
          </a:solidFill>
          <a:ln w="9525">
            <a:solidFill>
              <a:srgbClr val="D8DEE1"/>
            </a:solidFill>
            <a:prstDash val="solid"/>
          </a:ln>
          <a:effectLst>
            <a:outerShdw sx="100000" sy="100000" kx="0" ky="0" algn="bl" rotWithShape="0" blurRad="127000" dist="12700" dir="54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68680" y="4681728"/>
            <a:ext cx="457200" cy="457200"/>
          </a:xfrm>
          <a:prstGeom prst="ellipse">
            <a:avLst/>
          </a:prstGeom>
          <a:solidFill>
            <a:srgbClr val="A8443C"/>
          </a:solidFill>
          <a:ln w="12700">
            <a:solidFill>
              <a:srgbClr val="A8443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68680" y="4681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481328" y="4663440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Restructuring after baseline without a request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481328" y="5175504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E5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never “just a small change” once a valuation exists.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217920" y="4517136"/>
            <a:ext cx="5349240" cy="1234440"/>
          </a:xfrm>
          <a:prstGeom prst="roundRect">
            <a:avLst>
              <a:gd name="adj" fmla="val 5926"/>
            </a:avLst>
          </a:prstGeom>
          <a:solidFill>
            <a:srgbClr val="F1F4F5"/>
          </a:solidFill>
          <a:ln w="9525">
            <a:solidFill>
              <a:srgbClr val="D8DEE1"/>
            </a:solidFill>
            <a:prstDash val="solid"/>
          </a:ln>
          <a:effectLst>
            <a:outerShdw sx="100000" sy="100000" kx="0" ky="0" algn="bl" rotWithShape="0" blurRad="127000" dist="12700" dir="54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446520" y="4681728"/>
            <a:ext cx="457200" cy="457200"/>
          </a:xfrm>
          <a:prstGeom prst="ellipse">
            <a:avLst/>
          </a:prstGeom>
          <a:solidFill>
            <a:srgbClr val="A8443C"/>
          </a:solidFill>
          <a:ln w="12700">
            <a:solidFill>
              <a:srgbClr val="A8443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46520" y="4681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059168" y="4663440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Committing an import without reading the dry run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059168" y="5175504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E5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 wrong locations take 30 seconds to create and a day to unpick.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rhythm: what happens, and when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Fourteen written procedures sit behind this — these are the moments that matter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3246120" cy="530352"/>
          </a:xfrm>
          <a:prstGeom prst="roundRect">
            <a:avLst>
              <a:gd name="adj" fmla="val 10345"/>
            </a:avLst>
          </a:prstGeom>
          <a:solidFill>
            <a:srgbClr val="1B2A33"/>
          </a:solidFill>
          <a:ln w="12700">
            <a:solidFill>
              <a:srgbClr val="1B2A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737360"/>
            <a:ext cx="2926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award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114800" y="1737360"/>
            <a:ext cx="7406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E5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workshop, apply a template, agree the coding convention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2359152"/>
            <a:ext cx="3246120" cy="530352"/>
          </a:xfrm>
          <a:prstGeom prst="roundRect">
            <a:avLst>
              <a:gd name="adj" fmla="val 10345"/>
            </a:avLst>
          </a:prstGeom>
          <a:solidFill>
            <a:srgbClr val="1B2A33"/>
          </a:solidFill>
          <a:ln w="12700">
            <a:solidFill>
              <a:srgbClr val="1B2A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359152"/>
            <a:ext cx="2926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the first application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0" y="2359152"/>
            <a:ext cx="7406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E5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Four-party review and sign-off, then set Baseline R0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2980944"/>
            <a:ext cx="3246120" cy="530352"/>
          </a:xfrm>
          <a:prstGeom prst="roundRect">
            <a:avLst>
              <a:gd name="adj" fmla="val 10345"/>
            </a:avLst>
          </a:prstGeom>
          <a:solidFill>
            <a:srgbClr val="F1F4F5"/>
          </a:solidFill>
          <a:ln w="12700">
            <a:solidFill>
              <a:srgbClr val="D8DE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980944"/>
            <a:ext cx="2926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114800" y="2980944"/>
            <a:ext cx="7406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E5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changes reviewed in the progress meeting; unassigned areas checked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3602736"/>
            <a:ext cx="3246120" cy="530352"/>
          </a:xfrm>
          <a:prstGeom prst="roundRect">
            <a:avLst>
              <a:gd name="adj" fmla="val 10345"/>
            </a:avLst>
          </a:prstGeom>
          <a:solidFill>
            <a:srgbClr val="F1F4F5"/>
          </a:solidFill>
          <a:ln w="12700">
            <a:solidFill>
              <a:srgbClr val="D8DE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602736"/>
            <a:ext cx="2926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Monthly, 3 days before cut-off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114800" y="3602736"/>
            <a:ext cx="7406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E5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Roll-up verification before the payment application is prepared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4224528"/>
            <a:ext cx="3246120" cy="530352"/>
          </a:xfrm>
          <a:prstGeom prst="roundRect">
            <a:avLst>
              <a:gd name="adj" fmla="val 10345"/>
            </a:avLst>
          </a:prstGeom>
          <a:solidFill>
            <a:srgbClr val="F1F4F5"/>
          </a:solidFill>
          <a:ln w="12700">
            <a:solidFill>
              <a:srgbClr val="D8DE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4224528"/>
            <a:ext cx="2926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end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114800" y="4224528"/>
            <a:ext cx="7406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E5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Integrity review; overrides older than 14 days reviewed by the Director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4846320"/>
            <a:ext cx="3246120" cy="530352"/>
          </a:xfrm>
          <a:prstGeom prst="roundRect">
            <a:avLst>
              <a:gd name="adj" fmla="val 10345"/>
            </a:avLst>
          </a:prstGeom>
          <a:solidFill>
            <a:srgbClr val="F1F4F5"/>
          </a:solidFill>
          <a:ln w="12700">
            <a:solidFill>
              <a:srgbClr val="D8DE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4846320"/>
            <a:ext cx="2926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each milestone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114800" y="4846320"/>
            <a:ext cx="7406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E5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the branch once inspections and open items are cleared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40080" y="5468112"/>
            <a:ext cx="3246120" cy="530352"/>
          </a:xfrm>
          <a:prstGeom prst="roundRect">
            <a:avLst>
              <a:gd name="adj" fmla="val 10345"/>
            </a:avLst>
          </a:prstGeom>
          <a:solidFill>
            <a:srgbClr val="F1F4F5"/>
          </a:solidFill>
          <a:ln w="12700">
            <a:solidFill>
              <a:srgbClr val="D8DE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" y="5468112"/>
            <a:ext cx="2926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handover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114800" y="5468112"/>
            <a:ext cx="7406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E5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Export, archive, and retain for the defects period plus five years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40080" y="63276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detail in the module SOPs — the pre-baseline sign-off is the single control that prevents six months of rework.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someone asks hard questions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Client, consultant, auditor — every question has one place to look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881360" cy="621792"/>
          </a:xfrm>
          <a:prstGeom prst="roundRect">
            <a:avLst>
              <a:gd name="adj" fmla="val 11765"/>
            </a:avLst>
          </a:prstGeom>
          <a:solidFill>
            <a:srgbClr val="F1F4F5"/>
          </a:solidFill>
          <a:ln w="9525">
            <a:solidFill>
              <a:srgbClr val="D8DEE1"/>
            </a:solidFill>
            <a:prstDash val="solid"/>
          </a:ln>
          <a:effectLst>
            <a:outerShdw sx="100000" sy="100000" kx="0" ky="0" algn="bl" rotWithShape="0" blurRad="127000" dist="127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783080"/>
            <a:ext cx="4937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“Is the structure controlled?”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943600" y="2093976"/>
            <a:ext cx="256032" cy="0"/>
          </a:xfrm>
          <a:prstGeom prst="line">
            <a:avLst/>
          </a:prstGeom>
          <a:noFill/>
          <a:ln w="25400">
            <a:solidFill>
              <a:srgbClr val="E8A33D"/>
            </a:solidFill>
            <a:prstDash val="solid"/>
            <a:tailEnd type="triangle"/>
          </a:ln>
        </p:spPr>
      </p:sp>
      <p:sp>
        <p:nvSpPr>
          <p:cNvPr id="7" name="Text 5"/>
          <p:cNvSpPr/>
          <p:nvPr/>
        </p:nvSpPr>
        <p:spPr>
          <a:xfrm>
            <a:off x="6400800" y="1783080"/>
            <a:ext cx="4846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E5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register and the signed structure sheet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2496312"/>
            <a:ext cx="1088136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D8DEE1"/>
            </a:solidFill>
            <a:prstDash val="solid"/>
          </a:ln>
          <a:effectLst>
            <a:outerShdw sx="100000" sy="100000" kx="0" ky="0" algn="bl" rotWithShape="0" blurRad="127000" dist="127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14400" y="2496312"/>
            <a:ext cx="4937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“Did it change since the last valuation?”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943600" y="2807208"/>
            <a:ext cx="256032" cy="0"/>
          </a:xfrm>
          <a:prstGeom prst="line">
            <a:avLst/>
          </a:prstGeom>
          <a:noFill/>
          <a:ln w="25400">
            <a:solidFill>
              <a:srgbClr val="E8A33D"/>
            </a:solidFill>
            <a:prstDash val="solid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6400800" y="2496312"/>
            <a:ext cx="4846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E5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comparison export — one page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3209544"/>
            <a:ext cx="10881360" cy="621792"/>
          </a:xfrm>
          <a:prstGeom prst="roundRect">
            <a:avLst>
              <a:gd name="adj" fmla="val 11765"/>
            </a:avLst>
          </a:prstGeom>
          <a:solidFill>
            <a:srgbClr val="F1F4F5"/>
          </a:solidFill>
          <a:ln w="9525">
            <a:solidFill>
              <a:srgbClr val="D8DEE1"/>
            </a:solidFill>
            <a:prstDash val="solid"/>
          </a:ln>
          <a:effectLst>
            <a:outerShdw sx="100000" sy="100000" kx="0" ky="0" algn="bl" rotWithShape="0" blurRad="127000" dist="12700" dir="54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14400" y="3209544"/>
            <a:ext cx="4937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“Who authorised this change?”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943600" y="3520440"/>
            <a:ext cx="256032" cy="0"/>
          </a:xfrm>
          <a:prstGeom prst="line">
            <a:avLst/>
          </a:prstGeom>
          <a:noFill/>
          <a:ln w="25400">
            <a:solidFill>
              <a:srgbClr val="E8A33D"/>
            </a:solidFill>
            <a:prstDash val="solid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6400800" y="3209544"/>
            <a:ext cx="4846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E5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change request and its approval record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3922776"/>
            <a:ext cx="1088136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D8DEE1"/>
            </a:solidFill>
            <a:prstDash val="solid"/>
          </a:ln>
          <a:effectLst>
            <a:outerShdw sx="100000" sy="100000" kx="0" ky="0" algn="bl" rotWithShape="0" blurRad="127000" dist="12700" dir="54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14400" y="3922776"/>
            <a:ext cx="4937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“How was this progress figure derived?”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43600" y="4233672"/>
            <a:ext cx="256032" cy="0"/>
          </a:xfrm>
          <a:prstGeom prst="line">
            <a:avLst/>
          </a:prstGeom>
          <a:noFill/>
          <a:ln w="25400">
            <a:solidFill>
              <a:srgbClr val="E8A33D"/>
            </a:solidFill>
            <a:prstDash val="solid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6400800" y="3922776"/>
            <a:ext cx="4846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E5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contribution table, child by child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0080" y="4636008"/>
            <a:ext cx="10881360" cy="621792"/>
          </a:xfrm>
          <a:prstGeom prst="roundRect">
            <a:avLst>
              <a:gd name="adj" fmla="val 11765"/>
            </a:avLst>
          </a:prstGeom>
          <a:solidFill>
            <a:srgbClr val="F1F4F5"/>
          </a:solidFill>
          <a:ln w="9525">
            <a:solidFill>
              <a:srgbClr val="D8DEE1"/>
            </a:solidFill>
            <a:prstDash val="solid"/>
          </a:ln>
          <a:effectLst>
            <a:outerShdw sx="100000" sy="100000" kx="0" ky="0" algn="bl" rotWithShape="0" blurRad="127000" dist="12700" dir="54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14400" y="4636008"/>
            <a:ext cx="4937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“Why is this drawing number not in the tree?”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943600" y="4946904"/>
            <a:ext cx="256032" cy="0"/>
          </a:xfrm>
          <a:prstGeom prst="line">
            <a:avLst/>
          </a:prstGeom>
          <a:noFill/>
          <a:ln w="25400">
            <a:solidFill>
              <a:srgbClr val="E8A33D"/>
            </a:solidFill>
            <a:prstDash val="solid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6400800" y="4636008"/>
            <a:ext cx="4846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E5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code resolution — old codes still resolve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40080" y="5349240"/>
            <a:ext cx="1088136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D8DEE1"/>
            </a:solidFill>
            <a:prstDash val="solid"/>
          </a:ln>
          <a:effectLst>
            <a:outerShdw sx="100000" sy="100000" kx="0" ky="0" algn="bl" rotWithShape="0" blurRad="127000" dist="12700" dir="540000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914400" y="5349240"/>
            <a:ext cx="4937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“Was anything deleted?”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943600" y="5660136"/>
            <a:ext cx="256032" cy="0"/>
          </a:xfrm>
          <a:prstGeom prst="line">
            <a:avLst/>
          </a:prstGeom>
          <a:noFill/>
          <a:ln w="25400">
            <a:solidFill>
              <a:srgbClr val="E8A33D"/>
            </a:solidFill>
            <a:prstDash val="solid"/>
            <a:tailEnd type="triangle"/>
          </a:ln>
        </p:spPr>
      </p:sp>
      <p:sp>
        <p:nvSpPr>
          <p:cNvPr id="27" name="Text 25"/>
          <p:cNvSpPr/>
          <p:nvPr/>
        </p:nvSpPr>
        <p:spPr>
          <a:xfrm>
            <a:off x="6400800" y="5349240"/>
            <a:ext cx="4846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E5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is. Locations are archived, never purged.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40080" y="63276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structural action is recorded permanently — who did it, when, what changed, and why.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B2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things to take away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85800" y="1527048"/>
            <a:ext cx="475488" cy="475488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15270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371600" y="1435608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WBS is the address of everything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126480" y="143560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EC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record has no location, it cannot be reported, costed, or found.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85800" y="2459736"/>
            <a:ext cx="475488" cy="475488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4597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371600" y="2368296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progress is earned, not typed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126480" y="2368296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EC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the work face, not the summary. Overrides are visible to everyone.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85800" y="3392424"/>
            <a:ext cx="475488" cy="475488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339242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371600" y="3300984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 never means stuck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126480" y="3300984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EC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block offers the legitimate route — archive, or a change request.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85800" y="4325112"/>
            <a:ext cx="475488" cy="475488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43251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371600" y="4233672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impact preview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126480" y="4233672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EC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the last moment before nine locations and forty-six records move.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85800" y="5257800"/>
            <a:ext cx="475488" cy="475488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52578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371600" y="516636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structure is a commercial document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126480" y="5166360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EC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what your monthly application is valued against. Treat it that way.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85800" y="6172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i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 — and then into the sandbox.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DCOS WBS Management — Training Summary</dc:title>
  <dc:subject>PptxGenJS Presentation</dc:subject>
  <dc:creator>DCOS</dc:creator>
  <cp:lastModifiedBy>DCOS</cp:lastModifiedBy>
  <cp:revision>1</cp:revision>
  <dcterms:created xsi:type="dcterms:W3CDTF">2026-08-08T06:36:39Z</dcterms:created>
  <dcterms:modified xsi:type="dcterms:W3CDTF">2026-08-08T06:36:39Z</dcterms:modified>
</cp:coreProperties>
</file>
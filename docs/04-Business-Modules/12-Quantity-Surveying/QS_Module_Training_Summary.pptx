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deck summarises the training guide. Full detail is in doc 12; the SOP set always governs where they differ.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Emphasise: the chain is one-directional and automatic. The most common user error is typing a number that the system would have computed.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Paths are cumulative in difficulty. Site requesters only need two hours; QS Managers need everything plus the approvals module.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three habits prevent the majority of support tickets. Repeat them at the end of every module.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Exercise: build this rate from seed data and confirm 71.87, then change the cement price and observe the cascade.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Exercise: price a ten-item tender, finalize Revision 1, then handle an addendum as Revision 2 and confirm Revision 1 is untouched.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that this is structural, not a permission toggle. There is an automated test that scans client output for restricted fields.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cost must carry a BOQ link, otherwise it never appears in variance and the project looks better than it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Exercise: raise VOs of 3,200 / 25,000 / 80,000 and confirm the three chains.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Exercise: produce IPC 3 and match these figures exactly, then certify and confirm the retention ledger entry appears automatically.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Retention is real money and a frequent source of dispute. The ledger is the single record.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Requesters see the variance chip, not the baseline value itself. Overrides go to the QS Manager.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CPI or SPI is above 1.10, treat it as a data-quality flag and verify before reporting.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4 is the hard deadline. Submit on the contractual date even if internal review is imperfect — adjust in the next claim.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 out the printed card at the end of every session.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naming the super-user for each team and the date of the first refresher.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DCOS  ·  TRAINING GUIDE SUMMARY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78308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Quantity Surveying Module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commercial chain works, what each role does, and the habits that keep</a:t>
            </a:r>
            <a:endParaRPr lang="en-US" sz="18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 right — from tender price to final account.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4892040"/>
            <a:ext cx="1463040" cy="45720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5120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12 — DCOS-QS-12-TRN  ·  R1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20624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commercial chain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8580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in the module comes from the step before it — nothing is typed twice.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2286000"/>
            <a:ext cx="1481328" cy="1371600"/>
          </a:xfrm>
          <a:prstGeom prst="roundRect">
            <a:avLst>
              <a:gd name="adj" fmla="val 5333"/>
            </a:avLst>
          </a:prstGeom>
          <a:solidFill>
            <a:srgbClr val="F6E4BE"/>
          </a:solidFill>
          <a:ln w="12700">
            <a:solidFill>
              <a:srgbClr val="F6E4B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2487168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list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58368" y="2889504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938528" y="265176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185416" y="2286000"/>
            <a:ext cx="1481328" cy="1371600"/>
          </a:xfrm>
          <a:prstGeom prst="roundRect">
            <a:avLst>
              <a:gd name="adj" fmla="val 5333"/>
            </a:avLst>
          </a:prstGeom>
          <a:solidFill>
            <a:srgbClr val="F6E4BE"/>
          </a:solidFill>
          <a:ln w="12700">
            <a:solidFill>
              <a:srgbClr val="F6E4B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85416" y="2487168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rate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276856" y="2889504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one unit costs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57016" y="265176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803904" y="2286000"/>
            <a:ext cx="1481328" cy="1371600"/>
          </a:xfrm>
          <a:prstGeom prst="roundRect">
            <a:avLst>
              <a:gd name="adj" fmla="val 5333"/>
            </a:avLst>
          </a:prstGeom>
          <a:solidFill>
            <a:srgbClr val="F6E4BE"/>
          </a:solidFill>
          <a:ln w="12700">
            <a:solidFill>
              <a:srgbClr val="F6E4B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03904" y="2487168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BOQ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895344" y="2889504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qty × rate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175504" y="265176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22392" y="2286000"/>
            <a:ext cx="1481328" cy="1371600"/>
          </a:xfrm>
          <a:prstGeom prst="roundRect">
            <a:avLst>
              <a:gd name="adj" fmla="val 5333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22392" y="2487168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513832" y="2889504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baseline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793992" y="265176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7040880" y="2286000"/>
            <a:ext cx="1481328" cy="1371600"/>
          </a:xfrm>
          <a:prstGeom prst="roundRect">
            <a:avLst>
              <a:gd name="adj" fmla="val 5333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0880" y="2487168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+ VO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32320" y="2889504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spend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412480" y="265176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8659368" y="2286000"/>
            <a:ext cx="1481328" cy="1371600"/>
          </a:xfrm>
          <a:prstGeom prst="roundRect">
            <a:avLst>
              <a:gd name="adj" fmla="val 5333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59368" y="2487168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750808" y="2889504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bill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030968" y="265176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10277856" y="2286000"/>
            <a:ext cx="1481328" cy="1371600"/>
          </a:xfrm>
          <a:prstGeom prst="roundRect">
            <a:avLst>
              <a:gd name="adj" fmla="val 5333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277856" y="2487168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account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0369296" y="2889504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settle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85800" y="411480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B3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a price while the tender is draft and everything downstream recalculates. Lock the BOQ at award and the chain becomes the contract baseline.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85800" y="484632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0120" y="50292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71.87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960120" y="5532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unit rate per m³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4389120" y="484632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63440" y="50292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40,661.70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4663440" y="5532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due this claim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8092440" y="484632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366760" y="50292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+1,248.75</a:t>
            </a:r>
            <a:endParaRPr lang="en-US" sz="2400" dirty="0"/>
          </a:p>
        </p:txBody>
      </p:sp>
      <p:sp>
        <p:nvSpPr>
          <p:cNvPr id="40" name="Text 38"/>
          <p:cNvSpPr/>
          <p:nvPr/>
        </p:nvSpPr>
        <p:spPr>
          <a:xfrm>
            <a:off x="8366760" y="5532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buy-out to date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685800" y="62636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worked figures follow you through every module of this course.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20624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training paths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8580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 the path for your role — not everything applies to everyone.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221992"/>
            <a:ext cx="502920" cy="502920"/>
          </a:xfrm>
          <a:prstGeom prst="ellipse">
            <a:avLst/>
          </a:prstGeom>
          <a:solidFill>
            <a:srgbClr val="1B3A57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21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218541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Estimator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54480" y="253288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day   ·   T1 · T2 · T3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34840" y="196596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2221992"/>
            <a:ext cx="502920" cy="502920"/>
          </a:xfrm>
          <a:prstGeom prst="ellipse">
            <a:avLst/>
          </a:prstGeom>
          <a:solidFill>
            <a:srgbClr val="1B3A57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2221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303520" y="218541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QS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03520" y="253288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days   ·   T1 · T4–T7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83880" y="196596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0" y="2221992"/>
            <a:ext cx="502920" cy="502920"/>
          </a:xfrm>
          <a:prstGeom prst="ellipse">
            <a:avLst/>
          </a:prstGeom>
          <a:solidFill>
            <a:srgbClr val="1B3A57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2221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052560" y="218541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QS Manager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052560" y="253288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days   ·   All + T10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" y="365760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3913632"/>
            <a:ext cx="502920" cy="502920"/>
          </a:xfrm>
          <a:prstGeom prst="ellipse">
            <a:avLst/>
          </a:prstGeom>
          <a:solidFill>
            <a:srgbClr val="1B3A57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3913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554480" y="387705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554480" y="422452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day   ·   T1 · T8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434840" y="365760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3440" y="3913632"/>
            <a:ext cx="502920" cy="502920"/>
          </a:xfrm>
          <a:prstGeom prst="ellipse">
            <a:avLst/>
          </a:prstGeom>
          <a:solidFill>
            <a:srgbClr val="1B3A57"/>
          </a:solidFill>
          <a:ln/>
        </p:spPr>
      </p:sp>
      <p:sp>
        <p:nvSpPr>
          <p:cNvPr id="26" name="Text 24"/>
          <p:cNvSpPr/>
          <p:nvPr/>
        </p:nvSpPr>
        <p:spPr>
          <a:xfrm>
            <a:off x="4663440" y="3913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303520" y="387705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303520" y="422452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day   ·   T1 · T9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183880" y="365760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12480" y="3913632"/>
            <a:ext cx="502920" cy="502920"/>
          </a:xfrm>
          <a:prstGeom prst="ellipse">
            <a:avLst/>
          </a:prstGeom>
          <a:solidFill>
            <a:srgbClr val="1B3A57"/>
          </a:solidFill>
          <a:ln/>
        </p:spPr>
      </p:sp>
      <p:sp>
        <p:nvSpPr>
          <p:cNvPr id="31" name="Text 29"/>
          <p:cNvSpPr/>
          <p:nvPr/>
        </p:nvSpPr>
        <p:spPr>
          <a:xfrm>
            <a:off x="8412480" y="3913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052560" y="387705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requester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052560" y="422452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hours   ·   T1 · T8 (PR)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57200"/>
            <a:ext cx="566928" cy="566928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417320" y="420624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Foundations — the three habits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41732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minutes · everyone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1783080"/>
            <a:ext cx="10789920" cy="1143000"/>
          </a:xfrm>
          <a:prstGeom prst="roundRect">
            <a:avLst>
              <a:gd name="adj" fmla="val 64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2084832"/>
            <a:ext cx="548640" cy="548640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0848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737360" y="1984248"/>
            <a:ext cx="9326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3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status badge first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737360" y="2331720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Draft, approved, locked, certified — status decides what you can edit. The system disables rather than fails.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85800" y="3108960"/>
            <a:ext cx="10789920" cy="1143000"/>
          </a:xfrm>
          <a:prstGeom prst="roundRect">
            <a:avLst>
              <a:gd name="adj" fmla="val 64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0120" y="3410712"/>
            <a:ext cx="548640" cy="548640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34107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737360" y="3310128"/>
            <a:ext cx="9326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3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computed field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737360" y="3657600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rate, variance, payment due are calculated. If you are retyping a number the system produced, stop.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85800" y="4434840"/>
            <a:ext cx="10789920" cy="1143000"/>
          </a:xfrm>
          <a:prstGeom prst="roundRect">
            <a:avLst>
              <a:gd name="adj" fmla="val 64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0120" y="4736592"/>
            <a:ext cx="548640" cy="548640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4736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737360" y="4636008"/>
            <a:ext cx="9326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3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override, not a workaround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737360" y="4983480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control blocks you there is a documented path with a reason field. Never route around it.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57200"/>
            <a:ext cx="566928" cy="566928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417320" y="420624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 list and unit rates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41732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rates from resources — never type a rate.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1783080"/>
            <a:ext cx="5760720" cy="3840480"/>
          </a:xfrm>
          <a:prstGeom prst="roundRect">
            <a:avLst>
              <a:gd name="adj" fmla="val 1905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9659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UR-CON-001 · C25 concrete, per m³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24231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Cement  7.0 bags @ 4.20  +5% wastage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074920" y="24231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1B3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30.87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60120" y="28346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  0.45 m³ @ 12.00  +5%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74920" y="28346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1B3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5.67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60120" y="32461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 0.90 m³ @ 14.00  +5%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074920" y="32461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1B3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13.23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60120" y="36576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  0.80 h @ 22.00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074920" y="36576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1B3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17.60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60120" y="40690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 0.30 h @ 15.00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074920" y="4069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1B3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4.50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60120" y="4526280"/>
            <a:ext cx="5212080" cy="18288"/>
          </a:xfrm>
          <a:prstGeom prst="rect">
            <a:avLst/>
          </a:prstGeom>
          <a:solidFill>
            <a:srgbClr val="C9D2D9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4663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unit rate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977640" y="459028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71.87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858000" y="1965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3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remember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858000" y="2395728"/>
            <a:ext cx="4663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Wastage sits on material lines only.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divides labor and plant only.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is read-only here — edit it in the price list.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cement 4.20 → 4.60 and the rate becomes 74.81, with blockwork and plaster moving too.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58000" y="489204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3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Exercise: build this rate, confirm 71.87, then change the cement price and watch the cascade.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57200"/>
            <a:ext cx="566928" cy="566928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417320" y="420624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Tender pricing and revisions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41732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is working space. Finalize freezes everything.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1920240"/>
            <a:ext cx="3383280" cy="1645920"/>
          </a:xfrm>
          <a:prstGeom prst="roundRect">
            <a:avLst>
              <a:gd name="adj" fmla="val 4444"/>
            </a:avLst>
          </a:prstGeom>
          <a:solidFill>
            <a:srgbClr val="F6E4BE"/>
          </a:solidFill>
          <a:ln w="12700">
            <a:solidFill>
              <a:srgbClr val="F6E4B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1488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3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60120" y="256032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inputs freely. No revision is created by editing.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069080" y="25146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389120" y="1920240"/>
            <a:ext cx="3383280" cy="1645920"/>
          </a:xfrm>
          <a:prstGeom prst="roundRect">
            <a:avLst>
              <a:gd name="adj" fmla="val 4444"/>
            </a:avLst>
          </a:prstGeom>
          <a:solidFill>
            <a:srgbClr val="1B3A57"/>
          </a:solidFill>
          <a:ln w="12700">
            <a:solidFill>
              <a:srgbClr val="1B3A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21488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663440" y="256032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input tabs freeze and are snapshotted.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0" y="25146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8092440" y="1920240"/>
            <a:ext cx="3383280" cy="1645920"/>
          </a:xfrm>
          <a:prstGeom prst="roundRect">
            <a:avLst>
              <a:gd name="adj" fmla="val 4444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66760" y="21488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3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revision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366760" y="256032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a reason, clones the last, unlocks editing again.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5800" y="3886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3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bid summary chain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85800" y="431596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3A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Direct + Subcon + Prelims  →  overhead %  →  profit %  →  contingency  →  risk  →  VAT  =  bid price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85800" y="48920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items are priced individually. Contingency covers the unknown. Never cover the same risk twice.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57200"/>
            <a:ext cx="566928" cy="566928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417320" y="420624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and the margin firewall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41732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rates per item. Only one leaves the company.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1874520"/>
            <a:ext cx="5394960" cy="3108960"/>
          </a:xfrm>
          <a:prstGeom prst="roundRect">
            <a:avLst>
              <a:gd name="adj" fmla="val 2353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1031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— QS Manager and above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256032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rate  85.00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Markup: labor 18% · material 8% · plant 12%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margin per item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Buy-out gain and loss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55080" y="1874520"/>
            <a:ext cx="5120640" cy="3108960"/>
          </a:xfrm>
          <a:prstGeom prst="roundRect">
            <a:avLst>
              <a:gd name="adj" fmla="val 2353"/>
            </a:avLst>
          </a:prstGeom>
          <a:solidFill>
            <a:srgbClr val="F6E4BE"/>
          </a:solidFill>
          <a:ln w="12700">
            <a:solidFill>
              <a:srgbClr val="F6E4B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0" y="2103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Client-facing — everyone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75120" y="2560320"/>
            <a:ext cx="4572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6B5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rate  94.69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6B5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value and section totals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6B5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amounts and retention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6B5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cost. No markup. No margin.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516636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exports do not hide the cost columns — they do not contain them.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57200"/>
            <a:ext cx="566928" cy="566928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417320" y="420624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recording and budget control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41732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statuses, one rule about deleting.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1874520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0848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2487168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Recorded. Editable. Deletable.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0" y="1874520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F6E4BE"/>
          </a:solidFill>
          <a:ln w="12700">
            <a:solidFill>
              <a:srgbClr val="F6E4B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20848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63440" y="2487168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against documents. Locked.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92440" y="1874520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1B3A57"/>
          </a:solidFill>
          <a:ln w="12700">
            <a:solidFill>
              <a:srgbClr val="1B3A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66760" y="20848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366760" y="2487168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Settled. Permanent audit record.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" y="35204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a mistake after approval? Post a contra entry referencing the original. Never delete, never edit.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8580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colours — the same bands everywhere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85800" y="4617720"/>
            <a:ext cx="292608" cy="29260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8" name="Text 16"/>
          <p:cNvSpPr/>
          <p:nvPr/>
        </p:nvSpPr>
        <p:spPr>
          <a:xfrm>
            <a:off x="1097280" y="45720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057400" y="4572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or under budget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389120" y="4617720"/>
            <a:ext cx="292608" cy="292608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45720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760720" y="4572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– 5% over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092440" y="4617720"/>
            <a:ext cx="292608" cy="292608"/>
          </a:xfrm>
          <a:prstGeom prst="ellipse">
            <a:avLst/>
          </a:prstGeom>
          <a:solidFill>
            <a:srgbClr val="B3261E"/>
          </a:solidFill>
          <a:ln/>
        </p:spPr>
      </p:sp>
      <p:sp>
        <p:nvSpPr>
          <p:cNvPr id="24" name="Text 22"/>
          <p:cNvSpPr/>
          <p:nvPr/>
        </p:nvSpPr>
        <p:spPr>
          <a:xfrm>
            <a:off x="8503920" y="45720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464040" y="4572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5% — act this cycle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57200"/>
            <a:ext cx="566928" cy="566928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417320" y="420624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Variation orders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41732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approval chain is decided by value and cannot be shortened.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1874520"/>
            <a:ext cx="10789920" cy="91440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13055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3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$5,000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206240" y="213055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326880" y="213055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step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2971800"/>
            <a:ext cx="10789920" cy="91440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322783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3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$5,000 – $50,000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206240" y="322783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→ QS Manager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326880" y="322783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steps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85800" y="4069080"/>
            <a:ext cx="10789920" cy="914400"/>
          </a:xfrm>
          <a:prstGeom prst="roundRect">
            <a:avLst>
              <a:gd name="adj" fmla="val 8000"/>
            </a:avLst>
          </a:prstGeom>
          <a:solidFill>
            <a:srgbClr val="F6E4BE"/>
          </a:solidFill>
          <a:ln w="12700">
            <a:solidFill>
              <a:srgbClr val="F6E4B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432511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3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$50,000 and above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206240" y="432511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→ QS Manager → Director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326880" y="432511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steps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521208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3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cannot approve a variation you raised.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3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Rejection always needs a reason — it goes back to draft.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3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variations add to the contract sum; they never rewrite locked BOQ lines.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57200"/>
            <a:ext cx="566928" cy="566928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T7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417320" y="420624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Interim payment certificate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41732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important two hours of the course.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1783080"/>
            <a:ext cx="5943600" cy="3931920"/>
          </a:xfrm>
          <a:prstGeom prst="roundRect">
            <a:avLst>
              <a:gd name="adj" fmla="val 186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9659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G702 summary — worked example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239572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contract sum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754880" y="239572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1B3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280,572.00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60120" y="277977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approved variations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754880" y="2779776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1B3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12,400.00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60120" y="316382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sum to date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754880" y="3163824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1B3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292,972.00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60120" y="354787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and stored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754880" y="354787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1B3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146,486.00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60120" y="39319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retention 5%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754880" y="39319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1B3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7,324.30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60120" y="431596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previous certificates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754880" y="431596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1B3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98,500.00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60120" y="4773168"/>
            <a:ext cx="5486400" cy="18288"/>
          </a:xfrm>
          <a:prstGeom prst="rect">
            <a:avLst/>
          </a:prstGeom>
          <a:solidFill>
            <a:srgbClr val="C9D2D9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" y="49194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payment due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931920" y="48463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40,661.70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7040880" y="1965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3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you cannot break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040880" y="2468880"/>
            <a:ext cx="44805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Over-claiming beyond scheduled value is blocked.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approved variations before you submit.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is created by certification — never entered by hand.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value governs. The difference is kept for the final account.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on the contractual date. A late claim is cash you do not recover.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20624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Retention — deducted automatically, released deliberately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8580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held from every certificate, returned in two halves.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2011680"/>
            <a:ext cx="3383280" cy="2286000"/>
          </a:xfrm>
          <a:prstGeom prst="roundRect">
            <a:avLst>
              <a:gd name="adj" fmla="val 3200"/>
            </a:avLst>
          </a:prstGeom>
          <a:solidFill>
            <a:srgbClr val="F6E4BE"/>
          </a:solidFill>
          <a:ln w="12700">
            <a:solidFill>
              <a:srgbClr val="F6E4B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2860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certificate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269748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5% deducted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338328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by the system at certification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89120" y="2011680"/>
            <a:ext cx="3383280" cy="2286000"/>
          </a:xfrm>
          <a:prstGeom prst="roundRect">
            <a:avLst>
              <a:gd name="adj" fmla="val 32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22860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completion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69748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50% released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663440" y="338328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PC certificate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92440" y="2011680"/>
            <a:ext cx="3383280" cy="2286000"/>
          </a:xfrm>
          <a:prstGeom prst="roundRect">
            <a:avLst>
              <a:gd name="adj" fmla="val 32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66760" y="22860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DLP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366760" y="269748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Balance released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366760" y="338328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12 months later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85800" y="46634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B3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release request must cite the trigger certificate and cannot exceed the outstanding balance.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57200"/>
            <a:ext cx="566928" cy="566928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T8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417320" y="420624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Buying against the baseline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41732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checks run on every requisition line.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1828800"/>
            <a:ext cx="10789920" cy="1051560"/>
          </a:xfrm>
          <a:prstGeom prst="roundRect">
            <a:avLst>
              <a:gd name="adj" fmla="val 6957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2103120"/>
            <a:ext cx="502920" cy="502920"/>
          </a:xfrm>
          <a:prstGeom prst="ellipse">
            <a:avLst/>
          </a:prstGeom>
          <a:solidFill>
            <a:srgbClr val="1B3A57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91640" y="20299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3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691640" y="23774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money left on this BOQ item?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0" y="21762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3A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1,740 ≤ 6,120 remaining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966960" y="2130552"/>
            <a:ext cx="1234440" cy="457200"/>
          </a:xfrm>
          <a:prstGeom prst="roundRect">
            <a:avLst>
              <a:gd name="adj" fmla="val 20000"/>
            </a:avLst>
          </a:prstGeom>
          <a:solidFill>
            <a:srgbClr val="2E7D32"/>
          </a:solidFill>
          <a:ln/>
        </p:spPr>
      </p:sp>
      <p:sp>
        <p:nvSpPr>
          <p:cNvPr id="13" name="Text 11"/>
          <p:cNvSpPr/>
          <p:nvPr/>
        </p:nvSpPr>
        <p:spPr>
          <a:xfrm>
            <a:off x="9966960" y="213055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3063240"/>
            <a:ext cx="10789920" cy="1051560"/>
          </a:xfrm>
          <a:prstGeom prst="roundRect">
            <a:avLst>
              <a:gd name="adj" fmla="val 6957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0120" y="3337560"/>
            <a:ext cx="502920" cy="502920"/>
          </a:xfrm>
          <a:prstGeom prst="ellipse">
            <a:avLst/>
          </a:prstGeom>
          <a:solidFill>
            <a:srgbClr val="1B3A57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91640" y="32644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3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691640" y="36118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we already bought enough for the scope?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83680" y="34107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3A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3,580 of 3,675 allowable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966960" y="3364992"/>
            <a:ext cx="1234440" cy="457200"/>
          </a:xfrm>
          <a:prstGeom prst="roundRect">
            <a:avLst>
              <a:gd name="adj" fmla="val 20000"/>
            </a:avLst>
          </a:prstGeom>
          <a:solidFill>
            <a:srgbClr val="2E7D32"/>
          </a:solidFill>
          <a:ln/>
        </p:spPr>
      </p:sp>
      <p:sp>
        <p:nvSpPr>
          <p:cNvPr id="21" name="Text 19"/>
          <p:cNvSpPr/>
          <p:nvPr/>
        </p:nvSpPr>
        <p:spPr>
          <a:xfrm>
            <a:off x="9966960" y="336499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97.4%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5800" y="4297680"/>
            <a:ext cx="10789920" cy="1051560"/>
          </a:xfrm>
          <a:prstGeom prst="roundRect">
            <a:avLst>
              <a:gd name="adj" fmla="val 6957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0120" y="4572000"/>
            <a:ext cx="502920" cy="502920"/>
          </a:xfrm>
          <a:prstGeom prst="ellipse">
            <a:avLst/>
          </a:prstGeom>
          <a:solidFill>
            <a:srgbClr val="1B3A57"/>
          </a:solidFill>
          <a:ln/>
        </p:spPr>
      </p:sp>
      <p:sp>
        <p:nvSpPr>
          <p:cNvPr id="24" name="Text 22"/>
          <p:cNvSpPr/>
          <p:nvPr/>
        </p:nvSpPr>
        <p:spPr>
          <a:xfrm>
            <a:off x="960120" y="4572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691640" y="449884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3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691640" y="48463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it compare to the tender price?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583680" y="464515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3A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4.35 against baseline 4.20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9966960" y="4599432"/>
            <a:ext cx="1234440" cy="457200"/>
          </a:xfrm>
          <a:prstGeom prst="roundRect">
            <a:avLst>
              <a:gd name="adj" fmla="val 20000"/>
            </a:avLst>
          </a:prstGeom>
          <a:solidFill>
            <a:srgbClr val="D98E04"/>
          </a:solidFill>
          <a:ln/>
        </p:spPr>
      </p:sp>
      <p:sp>
        <p:nvSpPr>
          <p:cNvPr id="29" name="Text 27"/>
          <p:cNvSpPr/>
          <p:nvPr/>
        </p:nvSpPr>
        <p:spPr>
          <a:xfrm>
            <a:off x="9966960" y="459943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+3.6%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85800" y="55778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red result is not a dead end — request the override with a reason. Every override is reviewed monthly.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57200"/>
            <a:ext cx="566928" cy="566928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T9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417320" y="420624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health numbers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41732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indices tell management everything about cost and time.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1874520"/>
            <a:ext cx="5349240" cy="2011680"/>
          </a:xfrm>
          <a:prstGeom prst="roundRect">
            <a:avLst>
              <a:gd name="adj" fmla="val 3636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1031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CPI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377440" y="214884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performance — below 1.00 means we are spending more than we are earning.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126480" y="1874520"/>
            <a:ext cx="5349240" cy="2011680"/>
          </a:xfrm>
          <a:prstGeom prst="roundRect">
            <a:avLst>
              <a:gd name="adj" fmla="val 3636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21031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SPI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818120" y="214884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performance — below 1.00 means we are behind the programme.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85800" y="4114800"/>
            <a:ext cx="3383280" cy="1143000"/>
          </a:xfrm>
          <a:prstGeom prst="roundRect">
            <a:avLst>
              <a:gd name="adj" fmla="val 64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0120" y="4370832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4" name="Text 12"/>
          <p:cNvSpPr/>
          <p:nvPr/>
        </p:nvSpPr>
        <p:spPr>
          <a:xfrm>
            <a:off x="1344168" y="43159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 and above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44168" y="468172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 — monitor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389120" y="4114800"/>
            <a:ext cx="3383280" cy="1143000"/>
          </a:xfrm>
          <a:prstGeom prst="roundRect">
            <a:avLst>
              <a:gd name="adj" fmla="val 64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4370832"/>
            <a:ext cx="274320" cy="274320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18" name="Text 16"/>
          <p:cNvSpPr/>
          <p:nvPr/>
        </p:nvSpPr>
        <p:spPr>
          <a:xfrm>
            <a:off x="5047488" y="43159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 – 0.99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47488" y="468172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with the PM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092440" y="4114800"/>
            <a:ext cx="3383280" cy="1143000"/>
          </a:xfrm>
          <a:prstGeom prst="roundRect">
            <a:avLst>
              <a:gd name="adj" fmla="val 64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66760" y="4370832"/>
            <a:ext cx="274320" cy="274320"/>
          </a:xfrm>
          <a:prstGeom prst="ellipse">
            <a:avLst/>
          </a:prstGeom>
          <a:solidFill>
            <a:srgbClr val="B3261E"/>
          </a:solidFill>
          <a:ln/>
        </p:spPr>
      </p:sp>
      <p:sp>
        <p:nvSpPr>
          <p:cNvPr id="22" name="Text 20"/>
          <p:cNvSpPr/>
          <p:nvPr/>
        </p:nvSpPr>
        <p:spPr>
          <a:xfrm>
            <a:off x="8750808" y="43159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0.85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750808" y="468172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to the Director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85800" y="548640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B3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m² always includes preliminaries and margin; it excludes VAT, land, fees, loose furniture, and external works.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20624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month-end sequence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8580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week where the whole module comes together.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1463040" cy="475488"/>
          </a:xfrm>
          <a:prstGeom prst="roundRect">
            <a:avLst>
              <a:gd name="adj" fmla="val 15385"/>
            </a:avLst>
          </a:prstGeom>
          <a:solidFill>
            <a:srgbClr val="1B3A57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78308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1–2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331720" y="1783080"/>
            <a:ext cx="9144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off costs; confirm deliveries and timesheets posted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2404872"/>
            <a:ext cx="1463040" cy="475488"/>
          </a:xfrm>
          <a:prstGeom prst="roundRect">
            <a:avLst>
              <a:gd name="adj" fmla="val 15385"/>
            </a:avLst>
          </a:prstGeom>
          <a:solidFill>
            <a:srgbClr val="1B3A57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40487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2–3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331720" y="2404872"/>
            <a:ext cx="9144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completed work; update progress for earned value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3026664"/>
            <a:ext cx="1463040" cy="475488"/>
          </a:xfrm>
          <a:prstGeom prst="roundRect">
            <a:avLst>
              <a:gd name="adj" fmla="val 15385"/>
            </a:avLst>
          </a:prstGeom>
          <a:solidFill>
            <a:srgbClr val="1B3A57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026664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3–4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331720" y="3026664"/>
            <a:ext cx="9144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claim items; check over-claim; add approved variations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5800" y="3648456"/>
            <a:ext cx="1463040" cy="475488"/>
          </a:xfrm>
          <a:prstGeom prst="roundRect">
            <a:avLst>
              <a:gd name="adj" fmla="val 15385"/>
            </a:avLst>
          </a:prstGeom>
          <a:solidFill>
            <a:srgbClr val="D98E04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648456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331720" y="3648456"/>
            <a:ext cx="9144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review, then submit the claim to the client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85800" y="4270248"/>
            <a:ext cx="1463040" cy="475488"/>
          </a:xfrm>
          <a:prstGeom prst="roundRect">
            <a:avLst>
              <a:gd name="adj" fmla="val 15385"/>
            </a:avLst>
          </a:prstGeom>
          <a:solidFill>
            <a:srgbClr val="1B3A57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427024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331720" y="4270248"/>
            <a:ext cx="9144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S-curve snapshot; refresh EVM; run the buy-out report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85800" y="4892040"/>
            <a:ext cx="1463040" cy="475488"/>
          </a:xfrm>
          <a:prstGeom prst="roundRect">
            <a:avLst>
              <a:gd name="adj" fmla="val 15385"/>
            </a:avLst>
          </a:prstGeom>
          <a:solidFill>
            <a:srgbClr val="1B3A57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489204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5–7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331720" y="4892040"/>
            <a:ext cx="9144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review and certification; retention created automatically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85800" y="5513832"/>
            <a:ext cx="1463040" cy="475488"/>
          </a:xfrm>
          <a:prstGeom prst="roundRect">
            <a:avLst>
              <a:gd name="adj" fmla="val 15385"/>
            </a:avLst>
          </a:prstGeom>
          <a:solidFill>
            <a:srgbClr val="1B3A57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551383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2331720" y="5513832"/>
            <a:ext cx="9144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review — variance, health, cash flow, overrides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3A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reference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3258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this for your desk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5120640" cy="3566160"/>
          </a:xfrm>
          <a:prstGeom prst="roundRect">
            <a:avLst>
              <a:gd name="adj" fmla="val 2051"/>
            </a:avLst>
          </a:prstGeom>
          <a:solidFill>
            <a:srgbClr val="12293D"/>
          </a:solidFill>
          <a:ln w="12700">
            <a:solidFill>
              <a:srgbClr val="1229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219456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1A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43000" y="2697480"/>
            <a:ext cx="44805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D8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a locked BOQ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D8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retention by hand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D8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an approved cost record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D8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cost or margin figures to a client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D8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something you raised yourself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309360" y="1965960"/>
            <a:ext cx="5120640" cy="3566160"/>
          </a:xfrm>
          <a:prstGeom prst="roundRect">
            <a:avLst>
              <a:gd name="adj" fmla="val 2051"/>
            </a:avLst>
          </a:prstGeom>
          <a:solidFill>
            <a:srgbClr val="12293D"/>
          </a:solidFill>
          <a:ln w="12700">
            <a:solidFill>
              <a:srgbClr val="1229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29400" y="219456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A8D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629400" y="2697480"/>
            <a:ext cx="44805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D8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every cost and PR line to a BOQ item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D8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 reason on every rejection and override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D8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approved variations before claiming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D8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the claim on the contract date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D8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status badge before editing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22960" y="576072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 routing   &lt;5k PM  ·  5k-50k PM + QSM  ·  50k+ PM + QSM + Director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498080" y="5760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FA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Retention   5%  ·  50% at PC  ·  50% at DLP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3A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COMPETENCY AND SUPPORT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78308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are signed off when you can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it without the trainer.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support during go-live · a named super-user in every project team ·</a:t>
            </a:r>
            <a:endParaRPr lang="en-US" sz="18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refreshers on the month-end sequence.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truth lives:  the SOP set governs whenever training material and procedure disagree.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2026-08-12T01:07:43Z</dcterms:created>
  <dcterms:modified xsi:type="dcterms:W3CDTF">2026-08-12T01:07:43Z</dcterms:modified>
</cp:coreProperties>
</file>
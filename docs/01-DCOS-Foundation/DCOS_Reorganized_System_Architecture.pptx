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ptos Display"/>
              </a:rPr>
              <a:t>DCOS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C8DCF0"/>
                </a:solidFill>
                <a:latin typeface="Aptos Display"/>
              </a:rPr>
              <a:t>Reorganized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rgbClr val="FFFFFF"/>
                </a:solidFill>
                <a:latin typeface="Aptos"/>
              </a:rPr>
              <a:t>From a project lifecycle model to a true construction operating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572000"/>
            <a:ext cx="2148840" cy="658368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PROJECT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4572000"/>
            <a:ext cx="2148840" cy="658368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WBS SPINE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4572000"/>
            <a:ext cx="2423160" cy="658368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PEOPLE &amp;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572000"/>
            <a:ext cx="1783080" cy="658368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4572000"/>
            <a:ext cx="1325880" cy="658368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EC8D2"/>
                </a:solidFill>
                <a:latin typeface="Aptos"/>
              </a:rPr>
              <a:t>Architecture reorganization based on the uploaded DCOS architecture, implementation roadmap and gap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1. What DCOS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The system is more than a collection of construction modules.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743200" cy="914400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DIGITAL
CONSTRUCTION
OPERATING SYSTEM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29000" y="1783080"/>
            <a:ext cx="731520" cy="0"/>
          </a:xfrm>
          <a:prstGeom prst="line">
            <a:avLst/>
          </a:prstGeom>
          <a:ln w="38100">
            <a:solidFill>
              <a:srgbClr val="2B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343400" y="1325880"/>
            <a:ext cx="2743200" cy="91440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ONE UNIFIED
COMPANY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0" y="1783080"/>
            <a:ext cx="731520" cy="0"/>
          </a:xfrm>
          <a:prstGeom prst="line">
            <a:avLst/>
          </a:prstGeom>
          <a:ln w="38100">
            <a:solidFill>
              <a:srgbClr val="21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046720" y="1325880"/>
            <a:ext cx="3429000" cy="9144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ONE SOURCE OF TRUTH
FOR PROJECT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10789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Unifies project information instead of creating separate departmental apps.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Connects design, procurement, site execution, cost, quality, safety, people and finance.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Uses WBS as the common control spine for project location and accountability.</a:t>
            </a:r>
          </a:p>
          <a:p>
            <a:pPr>
              <a:spcAft>
                <a:spcPts val="800"/>
              </a:spcAft>
              <a:defRPr sz="1600">
                <a:solidFill>
                  <a:srgbClr val="1E1E1E"/>
                </a:solidFill>
                <a:latin typeface="Aptos"/>
              </a:defRPr>
            </a:pPr>
            <a:r>
              <a:t>Shares core engines: project setup, WBS, document control, workflow, notification, audit and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5440680"/>
            <a:ext cx="8138160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63A"/>
                </a:solidFill>
                <a:latin typeface="Aptos"/>
              </a:rPr>
              <a:t>Core principle: Construction work is interdependent — the system must be interdependent too.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2. Why Reorganize the Architecture?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The original lifecycle is correct, but it is incomplete as a system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743200" cy="329184"/>
          </a:xfrm>
          <a:prstGeom prst="roundRect">
            <a:avLst/>
          </a:prstGeom>
          <a:solidFill>
            <a:srgbClr val="5C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ORIGINAL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630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Tender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20902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258062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Design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91334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37638" y="1716405"/>
            <a:ext cx="1170432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Procurement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8070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5229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Construction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8501" y="1935861"/>
            <a:ext cx="91441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15662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QA/QC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8933" y="1935861"/>
            <a:ext cx="91441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86094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HSE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19365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56525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Cost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89798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426957" y="1716405"/>
            <a:ext cx="1170432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Handover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6533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43693" y="1716405"/>
            <a:ext cx="1024128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DLP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776965" y="1935861"/>
            <a:ext cx="91440" cy="0"/>
          </a:xfrm>
          <a:prstGeom prst="line">
            <a:avLst/>
          </a:prstGeom>
          <a:ln w="1905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914125" y="1716405"/>
            <a:ext cx="1170432" cy="43891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4263A"/>
                </a:solidFill>
                <a:latin typeface="Aptos"/>
              </a:rPr>
              <a:t>Lessons Learned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886" y="2367153"/>
            <a:ext cx="2011680" cy="658368"/>
          </a:xfrm>
          <a:prstGeom prst="roundRect">
            <a:avLst/>
          </a:prstGeom>
          <a:solidFill>
            <a:srgbClr val="ECF2ED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44855B"/>
                </a:solidFill>
                <a:latin typeface="Aptos"/>
              </a:rPr>
              <a:t>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0332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HR appears as a module.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People are actually needed across every lifecycle stage.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Resource performance is not clearly represented as a cross-cutting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1234440"/>
            <a:ext cx="7132320" cy="329184"/>
          </a:xfrm>
          <a:prstGeom prst="roundRect">
            <a:avLst/>
          </a:prstGeom>
          <a:solidFill>
            <a:srgbClr val="44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REORGANIZED 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8726" y="5791581"/>
            <a:ext cx="6858000" cy="658368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CORE PLATFORM — AUTH • RBAC • PROJECT • WBS • WORKFLOW • DOCUMENT • AUDIT • KPI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371725"/>
            <a:ext cx="6858000" cy="749808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PROJECT LIFECYCLE — TENDER → DESIGN → PROCUREMENT → CONSTRUCTION → CLOSE-OUT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294507"/>
            <a:ext cx="6858000" cy="749808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PEOPLE &amp; RESOURCE LAYER — PEOPLE • EQUIPMENT • MATERIAL • SUBCONTRACTOR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226052"/>
            <a:ext cx="6858000" cy="749808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WBS + COST + PRODUCTIVITY — CONNECTS WORK TO RESOURCE USAGE AND FINANCIAL 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5090160"/>
            <a:ext cx="6858000" cy="594360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MANAGEMENT KPI — STATUS • PERFORMANCE • FORECAST • EXCEPTIONS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3. Reorganized DCOS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Five layers make the system easier to understand and extend.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2286000" cy="329184"/>
          </a:xfrm>
          <a:prstGeom prst="round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  CORE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179576"/>
            <a:ext cx="8183879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Authentication • RBAC • Company • Stakeholder • Project • WBS • Workflow • Documents • Notifications • Audit •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76272"/>
            <a:ext cx="2286000" cy="329184"/>
          </a:xfrm>
          <a:prstGeom prst="round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  PROJECT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167128"/>
            <a:ext cx="8183879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Tender • Design • QS/Estimation • Procurement • Construction • QA/QC • HSE • Planning • BIM • Commissioning • Handover • DLP • Claims • Lessons Learned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63824"/>
            <a:ext cx="2286000" cy="329184"/>
          </a:xfrm>
          <a:prstGeom prst="roundRect">
            <a:avLst/>
          </a:prstGeom>
          <a:solidFill>
            <a:srgbClr val="44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  PEOPLE &amp; RESOURCE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154680"/>
            <a:ext cx="8183879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People/HR • Equipment • Materials/Stock • Subcontractors • Capacity • Assignment • Skills • Attendance • Timesheet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51376"/>
            <a:ext cx="2286000" cy="329184"/>
          </a:xfrm>
          <a:prstGeom prst="roundRect">
            <a:avLst/>
          </a:prstGeom>
          <a:solidFill>
            <a:srgbClr val="D37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  CONTROL &amp;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4142232"/>
            <a:ext cx="8183879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Budget • BOQ • Cost • Productivity • Schedule • EVM • Resource Cost • Forecast •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138928"/>
            <a:ext cx="2286000" cy="329184"/>
          </a:xfrm>
          <a:prstGeom prst="roundRect">
            <a:avLst/>
          </a:prstGeom>
          <a:solidFill>
            <a:srgbClr val="6F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  MANAGEMENT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5129784"/>
            <a:ext cx="8183879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Executive KPI • Project KPI • Resource KPI • Cost KPI • Schedule KPI • Quality KPI • HSE KPI • Alerts •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897880"/>
            <a:ext cx="9784080" cy="457200"/>
          </a:xfrm>
          <a:prstGeom prst="roundRect">
            <a:avLst/>
          </a:prstGeom>
          <a:solidFill>
            <a:srgbClr val="EBEFF4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4263A"/>
                </a:solidFill>
                <a:latin typeface="Aptos"/>
              </a:rPr>
              <a:t>The architecture becomes: Core Platform + Lifecycle + Resources + Control + Intelligence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4. WBS Is the Central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Every important record should be traceable to where work happens.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051560" cy="68580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Company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72768" y="2176272"/>
            <a:ext cx="219456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28800" y="1828800"/>
            <a:ext cx="1143000" cy="68580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0088" y="2176272"/>
            <a:ext cx="219456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828800"/>
            <a:ext cx="1143000" cy="6858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Building / Area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07407" y="2176272"/>
            <a:ext cx="173737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17720" y="1828800"/>
            <a:ext cx="914400" cy="6858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Level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50407" y="2176272"/>
            <a:ext cx="356617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0" y="1828800"/>
            <a:ext cx="822960" cy="6858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Zone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84848" y="2176272"/>
            <a:ext cx="402336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0" y="1828800"/>
            <a:ext cx="1600200" cy="6858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Room / Space / Element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42248" y="2176272"/>
            <a:ext cx="356616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35440" y="1828800"/>
            <a:ext cx="2331720" cy="6858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Task / Document / Cost / Material / Inspection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383280" cy="713232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WHO?
Responsible person /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54680"/>
            <a:ext cx="3383280" cy="713232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WHAT?
Task / document / cost / material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154680"/>
            <a:ext cx="3383280" cy="713232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WHERE?
Project / WBS location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10332720" cy="7772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263A"/>
                </a:solidFill>
                <a:latin typeface="Aptos"/>
              </a:rPr>
              <a:t>WBS enables roll-up: Task → Zone → Level → Building → Project → 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486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5C6770"/>
                </a:solidFill>
                <a:latin typeface="Aptos"/>
              </a:defRPr>
            </a:pPr>
            <a:r>
              <a:rPr dirty="0"/>
              <a:t>This is the key architectural principle already established in the source architecture; the reorganization preserves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5. People &amp; Resource Management Becomes a Cross-Cutting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HR should support project delivery — not sit outside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25880"/>
            <a:ext cx="3657600" cy="658368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PEOPLE &amp; RESOURCE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People Master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536192" y="1993392"/>
            <a:ext cx="4544568" cy="50292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0" y="251460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Resource Planning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639312" y="1993392"/>
            <a:ext cx="2441448" cy="50292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251460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Project Assignment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742431" y="1993392"/>
            <a:ext cx="338329" cy="50292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251460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Attendance / Timesheet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993392"/>
            <a:ext cx="1764792" cy="50292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51460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Skills &amp; Competency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1993392"/>
            <a:ext cx="3867912" cy="50292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379476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Productivity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724912" y="1993392"/>
            <a:ext cx="3355848" cy="178308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06240" y="379476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Performance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5102352" y="1993392"/>
            <a:ext cx="978408" cy="178308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83680" y="379476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Training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1993392"/>
            <a:ext cx="1399032" cy="178308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61120" y="3794760"/>
            <a:ext cx="1783080" cy="566928"/>
          </a:xfrm>
          <a:prstGeom prst="roundRect">
            <a:avLst/>
          </a:prstGeom>
          <a:solidFill>
            <a:srgbClr val="EDF5EF"/>
          </a:solidFill>
          <a:ln w="12700">
            <a:solidFill>
              <a:srgbClr val="B4CF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4855B"/>
                </a:solidFill>
                <a:latin typeface="Aptos"/>
              </a:rPr>
              <a:t>Payroll / Labour Cost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1993392"/>
            <a:ext cx="3776472" cy="1783080"/>
          </a:xfrm>
          <a:prstGeom prst="line">
            <a:avLst/>
          </a:prstGeom>
          <a:ln w="16510">
            <a:solidFill>
              <a:srgbClr val="448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5840" y="5166360"/>
            <a:ext cx="10058400" cy="6858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4263A"/>
                </a:solidFill>
                <a:latin typeface="Aptos"/>
              </a:rPr>
              <a:t>People data → WBS assignment → hours → productivity → labour cost → project KPI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6. HR → WBS → Productivity → Cost →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This is the missing connection that turns HR data into construction intelligence.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45920"/>
            <a:ext cx="1508760" cy="731520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Who is working?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38528" y="2011680"/>
            <a:ext cx="237744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75688" y="1645920"/>
            <a:ext cx="1508760" cy="73152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Where / which WBS?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2736" y="2011680"/>
            <a:ext cx="237744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39896" y="1645920"/>
            <a:ext cx="1508760" cy="73152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9896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dirty="0">
                <a:solidFill>
                  <a:srgbClr val="5C6770"/>
                </a:solidFill>
                <a:latin typeface="Aptos"/>
              </a:rPr>
              <a:t>How many hours?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66944" y="2011680"/>
            <a:ext cx="237744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4104" y="1645920"/>
            <a:ext cx="1508760" cy="731520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4104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What quantity achieved?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31152" y="2011680"/>
            <a:ext cx="237744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68312" y="1645920"/>
            <a:ext cx="1508760" cy="731520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How efficient?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2011680"/>
            <a:ext cx="237744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1645920"/>
            <a:ext cx="1508760" cy="731520"/>
          </a:xfrm>
          <a:prstGeom prst="roundRect">
            <a:avLst/>
          </a:prstGeom>
          <a:solidFill>
            <a:srgbClr val="B84343"/>
          </a:solidFill>
          <a:ln w="12700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What did it cost?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59568" y="2011680"/>
            <a:ext cx="237744" cy="0"/>
          </a:xfrm>
          <a:prstGeom prst="line">
            <a:avLst/>
          </a:prstGeom>
          <a:ln w="254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96728" y="1645920"/>
            <a:ext cx="1508760" cy="731520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96728" y="2487168"/>
            <a:ext cx="15087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What should management do?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749039"/>
            <a:ext cx="10149840" cy="96012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63A"/>
                </a:solidFill>
                <a:latin typeface="Aptos"/>
              </a:rPr>
              <a:t>Example: Rebar installation → 8 workers → 64 man-hours → 5.2 tonnes installed → productivity measured → labour cost allocated to WBS → project performance visible.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74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The source architecture already states that HR and timesheet affect productivity and payroll; this reorganization makes that relationship explicit.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Resource KPIs can later support forecasting and optimization.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7. Resource Layer Is Broader Than 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People are the primary resource, but project delivery also consumes equipment, materials and subcontract capacity.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06040" cy="594360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Employees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Workers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Engineers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Supervisors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Skills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Hours / 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606040" cy="59436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EQUIPMENT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Plant register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Assignment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Utilization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Fuel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Maintenance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Rental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2606040" cy="594360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Material master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Stock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Receipt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Issue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Traceability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17320"/>
            <a:ext cx="2606040" cy="594360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SUBCONTRACTOR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Company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Scope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Capacity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Progress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Performance</a:t>
            </a:r>
          </a:p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66360"/>
            <a:ext cx="10332720" cy="685800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All resource consumption should be traceable to Project + WBS + Time + Cost + Responsible Party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8. Lifecycle + Resource Layer +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The final operating model connects process, location, people and performance.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828800" cy="329184"/>
          </a:xfrm>
          <a:prstGeom prst="roundRect">
            <a:avLst/>
          </a:prstGeom>
          <a:solidFill>
            <a:srgbClr val="2B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Tender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36192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55064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Design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88336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QS / Est.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59352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Procure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92624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11496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Construct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44768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QA/QC + HSE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96912" y="1828800"/>
            <a:ext cx="64007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15783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Commission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49055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67928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Handover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0" y="1828800"/>
            <a:ext cx="64007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0072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DLP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753343" y="1828800"/>
            <a:ext cx="64008" cy="0"/>
          </a:xfrm>
          <a:prstGeom prst="line">
            <a:avLst/>
          </a:prstGeom>
          <a:ln w="12700">
            <a:solidFill>
              <a:srgbClr val="5C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872215" y="1600200"/>
            <a:ext cx="1024128" cy="4572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B2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B5B96"/>
                </a:solidFill>
                <a:latin typeface="Aptos"/>
              </a:rPr>
              <a:t>Lessons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423160"/>
            <a:ext cx="1828800" cy="329184"/>
          </a:xfrm>
          <a:prstGeom prst="roundRect">
            <a:avLst/>
          </a:prstGeom>
          <a:solidFill>
            <a:srgbClr val="21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WBS SPINE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852928"/>
            <a:ext cx="11064240" cy="566928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Project → Building / Area → Level → Zone → Room / Element → Task /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57600"/>
            <a:ext cx="1828800" cy="329184"/>
          </a:xfrm>
          <a:prstGeom prst="roundRect">
            <a:avLst/>
          </a:prstGeom>
          <a:solidFill>
            <a:srgbClr val="44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RESOURCES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3657600"/>
            <a:ext cx="1920240" cy="566928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657600"/>
            <a:ext cx="1920240" cy="566928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Equipment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3657600"/>
            <a:ext cx="1920240" cy="566928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Material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3657600"/>
            <a:ext cx="1920240" cy="566928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Subcontractor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498848"/>
            <a:ext cx="1828800" cy="329184"/>
          </a:xfrm>
          <a:prstGeom prst="roundRect">
            <a:avLst/>
          </a:prstGeom>
          <a:solidFill>
            <a:srgbClr val="D37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4498848"/>
            <a:ext cx="1417320" cy="566928"/>
          </a:xfrm>
          <a:prstGeom prst="roundRect">
            <a:avLst/>
          </a:prstGeom>
          <a:solidFill>
            <a:srgbClr val="F9F0E7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37C2F"/>
                </a:solidFill>
                <a:latin typeface="Aptos"/>
              </a:rPr>
              <a:t>Cost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498848"/>
            <a:ext cx="1417320" cy="566928"/>
          </a:xfrm>
          <a:prstGeom prst="roundRect">
            <a:avLst/>
          </a:prstGeom>
          <a:solidFill>
            <a:srgbClr val="F9F0E7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37C2F"/>
                </a:solidFill>
                <a:latin typeface="Aptos"/>
              </a:rPr>
              <a:t>Schedule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4498848"/>
            <a:ext cx="1417320" cy="566928"/>
          </a:xfrm>
          <a:prstGeom prst="roundRect">
            <a:avLst/>
          </a:prstGeom>
          <a:solidFill>
            <a:srgbClr val="F9F0E7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37C2F"/>
                </a:solidFill>
                <a:latin typeface="Aptos"/>
              </a:rPr>
              <a:t>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19" y="4498848"/>
            <a:ext cx="1417320" cy="566928"/>
          </a:xfrm>
          <a:prstGeom prst="roundRect">
            <a:avLst/>
          </a:prstGeom>
          <a:solidFill>
            <a:srgbClr val="F9F0E7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37C2F"/>
                </a:solidFill>
                <a:latin typeface="Aptos"/>
              </a:rPr>
              <a:t>HSE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55480" y="4498848"/>
            <a:ext cx="1417320" cy="566928"/>
          </a:xfrm>
          <a:prstGeom prst="roundRect">
            <a:avLst/>
          </a:prstGeom>
          <a:solidFill>
            <a:srgbClr val="F9F0E7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37C2F"/>
                </a:solidFill>
                <a:latin typeface="Aptos"/>
              </a:rPr>
              <a:t>Productivity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" y="5486400"/>
            <a:ext cx="10058400" cy="566928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MANAGEMENT KPI → STATUS • VARIANCE • FORECAST • ALERT • DECISION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9. How the Architecture Supports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The goal is not more data — it is faster, better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508760" cy="685800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Do we have enough people?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1508760"/>
            <a:ext cx="1508760" cy="68580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2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What must be done?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58184" y="1508760"/>
            <a:ext cx="1508760" cy="68580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Where is it happening?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5816" y="1508760"/>
            <a:ext cx="1508760" cy="685800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5816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Are we on schedule?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3448" y="1508760"/>
            <a:ext cx="1508760" cy="685800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Are we spending correctly?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508760"/>
            <a:ext cx="1508760" cy="685800"/>
          </a:xfrm>
          <a:prstGeom prst="roundRect">
            <a:avLst/>
          </a:prstGeom>
          <a:solidFill>
            <a:srgbClr val="B84343"/>
          </a:solidFill>
          <a:ln w="12700">
            <a:solidFill>
              <a:srgbClr val="B8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QUALITY / 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Is the work compliant and safe?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68712" y="1508760"/>
            <a:ext cx="1508760" cy="685800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8712" y="2331720"/>
            <a:ext cx="1508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C6770"/>
                </a:solidFill>
                <a:latin typeface="Aptos"/>
              </a:rPr>
              <a:t>Where will we finish?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77639"/>
            <a:ext cx="10332720" cy="914400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Executive Dashboard
Company → Portfolio → Project → Building → WBS → 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E1E1E"/>
                </a:solidFill>
                <a:latin typeface="Aptos"/>
              </a:defRPr>
            </a:pPr>
            <a:r>
              <a:t>The source final architecture defines six dashboard levels from Board/Executive through Field Worker; the reorganized model adds a clear resource-performance dimension.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A"/>
                </a:solidFill>
                <a:latin typeface="Aptos Display"/>
              </a:rPr>
              <a:t>10. Recommended Development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770"/>
                </a:solidFill>
                <a:latin typeface="Aptos"/>
              </a:rPr>
              <a:t>Build the spine first, then connect the lifecycle and resource layers.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640080" cy="548640"/>
          </a:xfrm>
          <a:prstGeom prst="round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143000"/>
            <a:ext cx="2331720" cy="548640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63A"/>
                </a:solidFill>
                <a:latin typeface="Aptos"/>
              </a:rPr>
              <a:t>CORE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143000"/>
            <a:ext cx="749807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Auth • RBAC • Company • Project • WBS • Workflow • Documents • 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47672"/>
            <a:ext cx="640080" cy="54864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947672"/>
            <a:ext cx="2331720" cy="548640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63A"/>
                </a:solidFill>
                <a:latin typeface="Aptos"/>
              </a:rPr>
              <a:t>MVP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947672"/>
            <a:ext cx="749807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Tasks • Daily Reports • RFI • Dashboards • Mobile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52344"/>
            <a:ext cx="640080" cy="548640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2752344"/>
            <a:ext cx="2331720" cy="548640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63A"/>
                </a:solidFill>
                <a:latin typeface="Aptos"/>
              </a:rPr>
              <a:t>COMMERCIAL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752344"/>
            <a:ext cx="749807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BOQ • Estimation • Cost • IPC • Finance • Procurement •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557015"/>
            <a:ext cx="640080" cy="548640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557015"/>
            <a:ext cx="2331720" cy="548640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63A"/>
                </a:solidFill>
                <a:latin typeface="Aptos"/>
              </a:rPr>
              <a:t>RESOURCE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557015"/>
            <a:ext cx="749807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People • Assignment • Attendance • Timesheet • Equipment • Subcontractors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361688"/>
            <a:ext cx="640080" cy="548640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361688"/>
            <a:ext cx="2331720" cy="548640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63A"/>
                </a:solidFill>
                <a:latin typeface="Aptos"/>
              </a:rPr>
              <a:t>EXECUTION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4361688"/>
            <a:ext cx="749807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QA/QC • HSE • Planning • CPM • BIM • Resource Leveling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66359"/>
            <a:ext cx="640080" cy="54864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5166359"/>
            <a:ext cx="2331720" cy="548640"/>
          </a:xfrm>
          <a:prstGeom prst="roundRect">
            <a:avLst/>
          </a:prstGeom>
          <a:solidFill>
            <a:srgbClr val="EFF3F6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4263A"/>
                </a:solidFill>
                <a:latin typeface="Aptos"/>
              </a:rPr>
              <a:t>CLOSE-OUT + 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5166359"/>
            <a:ext cx="7498079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Aptos"/>
              </a:rPr>
              <a:t>Commissioning • Handover • DLP • Claims • EVM • Lessons •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989320"/>
            <a:ext cx="10058400" cy="38404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C6770"/>
                </a:solidFill>
                <a:latin typeface="Aptos"/>
              </a:rPr>
              <a:t>Source roadmap: MVP ≈ 6 months; full platform ≈ 18 months. The detailed gap analysis should govern what is added before full-scale build.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7453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Aptos"/>
              </a:rPr>
              <a:t>DCOS — Digital Construction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74536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DCOS — The Operating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731520"/>
          </a:xfrm>
          <a:prstGeom prst="roundRect">
            <a:avLst/>
          </a:prstGeom>
          <a:solidFill>
            <a:srgbClr val="2B5B96"/>
          </a:solidFill>
          <a:ln w="12700">
            <a:solidFill>
              <a:srgbClr val="2B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WHAT
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554480"/>
            <a:ext cx="2468880" cy="731520"/>
          </a:xfrm>
          <a:prstGeom prst="roundRect">
            <a:avLst/>
          </a:prstGeom>
          <a:solidFill>
            <a:srgbClr val="217D7A"/>
          </a:solidFill>
          <a:ln w="12700">
            <a:solidFill>
              <a:srgbClr val="217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WHERE
WBS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2468880" cy="731520"/>
          </a:xfrm>
          <a:prstGeom prst="roundRect">
            <a:avLst/>
          </a:prstGeom>
          <a:solidFill>
            <a:srgbClr val="44855B"/>
          </a:solidFill>
          <a:ln w="12700">
            <a:solidFill>
              <a:srgbClr val="448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WHO / WHAT
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554480"/>
            <a:ext cx="2468880" cy="731520"/>
          </a:xfrm>
          <a:prstGeom prst="roundRect">
            <a:avLst/>
          </a:prstGeom>
          <a:solidFill>
            <a:srgbClr val="D37C2F"/>
          </a:solidFill>
          <a:ln w="12700">
            <a:solidFill>
              <a:srgbClr val="D37C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HOW MUCH
Cost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1920240"/>
            <a:ext cx="20116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97880" y="1920240"/>
            <a:ext cx="20116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95360" y="1920240"/>
            <a:ext cx="20116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0" y="3063240"/>
            <a:ext cx="8503920" cy="914400"/>
          </a:xfrm>
          <a:prstGeom prst="roundRect">
            <a:avLst/>
          </a:prstGeom>
          <a:solidFill>
            <a:srgbClr val="6F539A"/>
          </a:solidFill>
          <a:ln w="12700">
            <a:solidFill>
              <a:srgbClr val="6F5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KPI + DASHBOARD + ALERTS
→ Management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The key change: HR is no longer treated as an isolated administrative module.</a:t>
            </a:r>
          </a:p>
          <a:p>
            <a:pPr>
              <a:spcAft>
                <a:spcPts val="8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People &amp; Resource Management becomes a cross-cutting operating layer connected to WBS, time, productivity, cost and KPI.</a:t>
            </a:r>
          </a:p>
          <a:p>
            <a:pPr>
              <a:spcAft>
                <a:spcPts val="8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This preserves the original DCOS WBS-driven philosophy while making the resource dimension explicit.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DCF0"/>
                </a:solidFill>
                <a:latin typeface="Aptos"/>
              </a:rPr>
              <a:t>Next architecture step: formalize the Resource Management module, KPI definitions, data model and cross-module interfaces in R1.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1290</Words>
  <Application>Microsoft Office PowerPoint</Application>
  <PresentationFormat>Widescreen</PresentationFormat>
  <Paragraphs>228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Pouth Liheng</cp:lastModifiedBy>
  <cp:revision>6</cp:revision>
  <dcterms:created xsi:type="dcterms:W3CDTF">2013-01-27T09:14:16Z</dcterms:created>
  <dcterms:modified xsi:type="dcterms:W3CDTF">2026-08-12T11:55:51Z</dcterms:modified>
  <cp:category/>
</cp:coreProperties>
</file>